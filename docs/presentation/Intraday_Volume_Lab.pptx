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xml version="1.0" encoding="utf-8"?><Relationships xmlns="http://schemas.openxmlformats.org/package/2006/relationships"><Relationship Type="http://schemas.openxmlformats.org/package/2006/relationships/metadata/core-properties" Target="/docProps/core.xml" Id="R422338d0e6784493" /><Relationship Type="http://schemas.openxmlformats.org/officeDocument/2006/relationships/extended-properties" Target="/docProps/app.xml" Id="R4e3d888ff8254871" /><Relationship Type="http://schemas.openxmlformats.org/officeDocument/2006/relationships/officeDocument" Target="/ppt/presentation.xml" Id="Rf020de10a6c64d72" /></Relationships>
</file>

<file path=ppt/presentation.xml><?xml version="1.0" encoding="utf-8"?>
<p:presentation xmlns:p="http://schemas.openxmlformats.org/presentationml/2006/main">
  <p:sldMasterIdLst>
    <p:sldMasterId xmlns:r="http://schemas.openxmlformats.org/officeDocument/2006/relationships" id="2147483648" r:id="R58e0c27c1f9b49e1"/>
  </p:sldMasterIdLst>
  <p:notesMasterIdLst>
    <p:notesMasterId xmlns:r="http://schemas.openxmlformats.org/officeDocument/2006/relationships" r:id="R7af29dc538064d99"/>
  </p:notesMasterIdLst>
  <p:sldIdLst>
    <p:sldId xmlns:r="http://schemas.openxmlformats.org/officeDocument/2006/relationships" id="256" r:id="R32a6bd117b714e89"/>
    <p:sldId xmlns:r="http://schemas.openxmlformats.org/officeDocument/2006/relationships" id="257" r:id="Rd2e004b434d844f4"/>
    <p:sldId xmlns:r="http://schemas.openxmlformats.org/officeDocument/2006/relationships" id="258" r:id="R9dd80887fa67411b"/>
    <p:sldId xmlns:r="http://schemas.openxmlformats.org/officeDocument/2006/relationships" id="259" r:id="Rcf023ffcc5c74b41"/>
    <p:sldId xmlns:r="http://schemas.openxmlformats.org/officeDocument/2006/relationships" id="260" r:id="Ra389820ca4154eee"/>
    <p:sldId xmlns:r="http://schemas.openxmlformats.org/officeDocument/2006/relationships" id="261" r:id="R8a31e9fe8af84c04"/>
    <p:sldId xmlns:r="http://schemas.openxmlformats.org/officeDocument/2006/relationships" id="262" r:id="Rb0c64035779c417f"/>
    <p:sldId xmlns:r="http://schemas.openxmlformats.org/officeDocument/2006/relationships" id="263" r:id="R3ac789c986c447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c501bb7d12864401" /><Relationship Type="http://schemas.openxmlformats.org/officeDocument/2006/relationships/slideMaster" Target="/ppt/slideMasters/slideMaster1.xml" Id="R58e0c27c1f9b49e1" /><Relationship Type="http://schemas.openxmlformats.org/officeDocument/2006/relationships/notesMaster" Target="/ppt/notesMasters/notesMaster1.xml" Id="R7af29dc538064d99" /><Relationship Type="http://schemas.openxmlformats.org/officeDocument/2006/relationships/presProps" Target="/ppt/presProps.xml" Id="R4c62436502cb4add" /><Relationship Type="http://schemas.openxmlformats.org/officeDocument/2006/relationships/tableStyles" Target="/ppt/tableStyles.xml" Id="Re5f1e43487e84303" /><Relationship Type="http://schemas.openxmlformats.org/officeDocument/2006/relationships/slide" Target="/ppt/slides/slide1.xml" Id="R32a6bd117b714e89" /><Relationship Type="http://schemas.openxmlformats.org/officeDocument/2006/relationships/slide" Target="/ppt/slides/slide2.xml" Id="Rd2e004b434d844f4" /><Relationship Type="http://schemas.openxmlformats.org/officeDocument/2006/relationships/slide" Target="/ppt/slides/slide3.xml" Id="R9dd80887fa67411b" /><Relationship Type="http://schemas.openxmlformats.org/officeDocument/2006/relationships/slide" Target="/ppt/slides/slide4.xml" Id="Rcf023ffcc5c74b41" /><Relationship Type="http://schemas.openxmlformats.org/officeDocument/2006/relationships/slide" Target="/ppt/slides/slide5.xml" Id="Ra389820ca4154eee" /><Relationship Type="http://schemas.openxmlformats.org/officeDocument/2006/relationships/slide" Target="/ppt/slides/slide6.xml" Id="R8a31e9fe8af84c04" /><Relationship Type="http://schemas.openxmlformats.org/officeDocument/2006/relationships/slide" Target="/ppt/slides/slide7.xml" Id="Rb0c64035779c417f" /><Relationship Type="http://schemas.openxmlformats.org/officeDocument/2006/relationships/slide" Target="/ppt/slides/slide8.xml" Id="R3ac789c986c44728" /></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4429dc0158f342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ntraday Volume Lab">
  <a:themeElements>
    <a:clrScheme name="Intraday Volume Lab">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Intraday Volume La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5649a5ae23e24dc2" /><Relationship Type="http://schemas.openxmlformats.org/officeDocument/2006/relationships/notesMaster" Target="/ppt/notesMasters/notesMaster1.xml" Id="R3b19d6263787439e" /></Relationships>
</file>

<file path=ppt/notesSlides/_rels/notesSlide2.xml.rels><?xml version="1.0" encoding="utf-8"?><Relationships xmlns="http://schemas.openxmlformats.org/package/2006/relationships"><Relationship Type="http://schemas.openxmlformats.org/officeDocument/2006/relationships/slide" Target="/ppt/slides/slide2.xml" Id="R7bbe576f29c74956" /><Relationship Type="http://schemas.openxmlformats.org/officeDocument/2006/relationships/notesMaster" Target="/ppt/notesMasters/notesMaster1.xml" Id="R898e9ee828d6428d" /></Relationships>
</file>

<file path=ppt/notesSlides/_rels/notesSlide3.xml.rels><?xml version="1.0" encoding="utf-8"?><Relationships xmlns="http://schemas.openxmlformats.org/package/2006/relationships"><Relationship Type="http://schemas.openxmlformats.org/officeDocument/2006/relationships/slide" Target="/ppt/slides/slide3.xml" Id="R6f0cccd093ae4f76" /><Relationship Type="http://schemas.openxmlformats.org/officeDocument/2006/relationships/notesMaster" Target="/ppt/notesMasters/notesMaster1.xml" Id="Reeb2c5d048df4d48" /></Relationships>
</file>

<file path=ppt/notesSlides/_rels/notesSlide4.xml.rels><?xml version="1.0" encoding="utf-8"?><Relationships xmlns="http://schemas.openxmlformats.org/package/2006/relationships"><Relationship Type="http://schemas.openxmlformats.org/officeDocument/2006/relationships/slide" Target="/ppt/slides/slide4.xml" Id="Rb6ce96e2d88b4355" /><Relationship Type="http://schemas.openxmlformats.org/officeDocument/2006/relationships/notesMaster" Target="/ppt/notesMasters/notesMaster1.xml" Id="R7afa092af44f4bc4" /></Relationships>
</file>

<file path=ppt/notesSlides/_rels/notesSlide5.xml.rels><?xml version="1.0" encoding="utf-8"?><Relationships xmlns="http://schemas.openxmlformats.org/package/2006/relationships"><Relationship Type="http://schemas.openxmlformats.org/officeDocument/2006/relationships/slide" Target="/ppt/slides/slide5.xml" Id="Re885d3c022744a0d" /><Relationship Type="http://schemas.openxmlformats.org/officeDocument/2006/relationships/notesMaster" Target="/ppt/notesMasters/notesMaster1.xml" Id="R496a723e0cb445d4" /></Relationships>
</file>

<file path=ppt/notesSlides/_rels/notesSlide6.xml.rels><?xml version="1.0" encoding="utf-8"?><Relationships xmlns="http://schemas.openxmlformats.org/package/2006/relationships"><Relationship Type="http://schemas.openxmlformats.org/officeDocument/2006/relationships/slide" Target="/ppt/slides/slide6.xml" Id="R9e408a785b2b4113" /><Relationship Type="http://schemas.openxmlformats.org/officeDocument/2006/relationships/notesMaster" Target="/ppt/notesMasters/notesMaster1.xml" Id="R7cf3ec684d2a432a" /></Relationships>
</file>

<file path=ppt/notesSlides/_rels/notesSlide7.xml.rels><?xml version="1.0" encoding="utf-8"?><Relationships xmlns="http://schemas.openxmlformats.org/package/2006/relationships"><Relationship Type="http://schemas.openxmlformats.org/officeDocument/2006/relationships/slide" Target="/ppt/slides/slide7.xml" Id="Rb71fbd21785d4c04" /><Relationship Type="http://schemas.openxmlformats.org/officeDocument/2006/relationships/notesMaster" Target="/ppt/notesMasters/notesMaster1.xml" Id="Re3dce392af1a42c3" /></Relationships>
</file>

<file path=ppt/notesSlides/_rels/notesSlide8.xml.rels><?xml version="1.0" encoding="utf-8"?><Relationships xmlns="http://schemas.openxmlformats.org/package/2006/relationships"><Relationship Type="http://schemas.openxmlformats.org/officeDocument/2006/relationships/slide" Target="/ppt/slides/slide8.xml" Id="R7060bf18fc57480f" /><Relationship Type="http://schemas.openxmlformats.org/officeDocument/2006/relationships/notesMaster" Target="/ppt/notesMasters/notesMaster1.xml" Id="R792e4f681c5a45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Intraday Volume Lab is a maintained Python research portfolio edition by Bikash Kushwaha. The demonstration uses fictional ALPHA and BETA instruments and establishes workflow reproducibility, rather than real-market forecasting performance.</a:t>
            </a:r>
          </a:p>
          <a:p xmlns:a="http://schemas.openxmlformats.org/drawingml/2006/main">
            <a:r>
              <a:t/>
            </a:r>
          </a:p>
          <a:p xmlns:a="http://schemas.openxmlformats.org/drawingml/2006/main">
            <a:r>
              <a:t>Sources:</a:t>
            </a:r>
          </a:p>
          <a:p xmlns:a="http://schemas.openxmlformats.org/drawingml/2006/main">
            <a:r>
              <a:t>https://github.com/BikashCoder31/intraday-volume-lab/blob/main/README.md</a:t>
            </a:r>
          </a:p>
          <a:p xmlns:a="http://schemas.openxmlformats.org/drawingml/2006/main">
            <a:r>
              <a:t>https://github.com/BikashCoder31/intraday-volume-lab/blob/main/SOURCE_ACKNOWLEDGEMENTS.md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example uses the previous 15 consecutive complete minute bars to predict the immediately following minute. The target is interval volume rather than the cumulative session counter. The target transformation is log1p followed by a scaler fitted only to the training partition.</a:t>
            </a:r>
          </a:p>
          <a:p xmlns:a="http://schemas.openxmlformats.org/drawingml/2006/main">
            <a:r>
              <a:t/>
            </a:r>
          </a:p>
          <a:p xmlns:a="http://schemas.openxmlformats.org/drawingml/2006/main">
            <a:r>
              <a:t>Sources:</a:t>
            </a:r>
          </a:p>
          <a:p xmlns:a="http://schemas.openxmlformats.org/drawingml/2006/main">
            <a:r>
              <a:t>https://github.com/BikashCoder31/intraday-volume-lab/blob/main/docs/DATA.md</a:t>
            </a:r>
          </a:p>
          <a:p xmlns:a="http://schemas.openxmlformats.org/drawingml/2006/main">
            <a:r>
              <a:t>https://github.com/BikashCoder31/intraday-volume-lab/blob/main/volume_lab.py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first row from left to right. The validated feature windows feed the lower training row. The date split, training-only preprocessing, training/evaluation, and report export run in that order. volume_lab.py owns numerical logic. Intraday_Volume_Lab.ipynb provides the narrative, while tools/export_report.py creates the static HTML. Stack: Python, TensorFlow/Keras, NumPy, pandas, scikit-learn, Matplotlib, Jupyter, pytest, Ruff. Vercel hosts pre-exported static files only.</a:t>
            </a:r>
          </a:p>
          <a:p xmlns:a="http://schemas.openxmlformats.org/drawingml/2006/main">
            <a:r>
              <a:t/>
            </a:r>
          </a:p>
          <a:p xmlns:a="http://schemas.openxmlformats.org/drawingml/2006/main">
            <a:r>
              <a:t>Sources:</a:t>
            </a:r>
          </a:p>
          <a:p xmlns:a="http://schemas.openxmlformats.org/drawingml/2006/main">
            <a:r>
              <a:t>https://github.com/BikashCoder31/intraday-volume-lab/blob/main/README.md</a:t>
            </a:r>
          </a:p>
          <a:p xmlns:a="http://schemas.openxmlformats.org/drawingml/2006/main">
            <a:r>
              <a:t>https://github.com/BikashCoder31/intraday-volume-lab/blob/main/volume_lab.py</a:t>
            </a:r>
          </a:p>
          <a:p xmlns:a="http://schemas.openxmlformats.org/drawingml/2006/main">
            <a:r>
              <a:t>https://github.com/BikashCoder31/intraday-volume-lab/blob/main/tools/export_report.py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refer to the included synthetic sample. Each session lasts 60 minutes. Epoch seconds convert from UTC to Asia/Kolkata before calendar-date grouping. Exact duplicate records are removed. Counter differences recover interval volume. Unknown partial minutes and resumed partial minutes after missing feed minutes are discarded. All instruments share whole-date boundaries; scalers fit training samples only.</a:t>
            </a:r>
          </a:p>
          <a:p xmlns:a="http://schemas.openxmlformats.org/drawingml/2006/main">
            <a:r>
              <a:t/>
            </a:r>
          </a:p>
          <a:p xmlns:a="http://schemas.openxmlformats.org/drawingml/2006/main">
            <a:r>
              <a:t>Sources:</a:t>
            </a:r>
          </a:p>
          <a:p xmlns:a="http://schemas.openxmlformats.org/drawingml/2006/main">
            <a:r>
              <a:t>https://github.com/BikashCoder31/intraday-volume-lab/blob/main/docs/DATA.md</a:t>
            </a:r>
          </a:p>
          <a:p xmlns:a="http://schemas.openxmlformats.org/drawingml/2006/main">
            <a:r>
              <a:t>https://github.com/BikashCoder31/intraday-volume-lab/blob/main/docs/results/synthetic-demo.json</a:t>
            </a:r>
          </a:p>
          <a:p xmlns:a="http://schemas.openxmlformats.org/drawingml/2006/main">
            <a:r>
              <a:t>https://github.com/BikashCoder31/intraday-volume-lab/blob/main/Intraday_Volume_Lab.ipynb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Sequential features: close, interval volume, spread, bid/ask imbalance, and high-low range. Context features: mean close, close standard deviation, summed window volume, mean spread, mean imbalance, and window range. The architecture uses two Conv1D layers, layer normalization, flattening, a Dense(32) context branch, an eight-dimensional symbol embedding, dropout, Dense(128), Dense(64), and a single scaled log-volume output. This context branch is not a CMEM estimator.</a:t>
            </a:r>
          </a:p>
          <a:p xmlns:a="http://schemas.openxmlformats.org/drawingml/2006/main">
            <a:r>
              <a:t/>
            </a:r>
          </a:p>
          <a:p xmlns:a="http://schemas.openxmlformats.org/drawingml/2006/main">
            <a:r>
              <a:t>Sources:</a:t>
            </a:r>
          </a:p>
          <a:p xmlns:a="http://schemas.openxmlformats.org/drawingml/2006/main">
            <a:r>
              <a:t>https://github.com/BikashCoder31/intraday-volume-lab/blob/main/volume_lab.py</a:t>
            </a:r>
          </a:p>
          <a:p xmlns:a="http://schemas.openxmlformats.org/drawingml/2006/main">
            <a:r>
              <a:t>https://github.com/BikashCoder31/intraday-volume-lab/blob/main/docs/DATA.md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numbers come directly from the recorded synthetic run. MAE and RMSE use original share units. Lower errors favor persistence. R2 values use three decimals. Persistence predicts the last observed minute volume. The separate JSON also includes log-volume metrics and SMAPE. No historical research scores are substituted. Run ID: e6d8efd4da9249249b41685cc62209ed</a:t>
            </a:r>
          </a:p>
          <a:p xmlns:a="http://schemas.openxmlformats.org/drawingml/2006/main">
            <a:r>
              <a:t/>
            </a:r>
          </a:p>
          <a:p xmlns:a="http://schemas.openxmlformats.org/drawingml/2006/main">
            <a:r>
              <a:t>Sources:</a:t>
            </a:r>
          </a:p>
          <a:p xmlns:a="http://schemas.openxmlformats.org/drawingml/2006/main">
            <a:r>
              <a:t>https://github.com/BikashCoder31/intraday-volume-lab/blob/main/docs/results/synthetic-demo.json</a:t>
            </a:r>
          </a:p>
          <a:p xmlns:a="http://schemas.openxmlformats.org/drawingml/2006/main">
            <a:r>
              <a:t>https://github.com/BikashCoder31/intraday-volume-lab/blob/main/docs/figures/predictions.png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pytest suite includes a short TensorFlow CPU training/save/reload test. GitHub Actions on Ubuntu runs dependency installation, Ruff lint, Ruff formatting, and pytest. The project also validates data schema, timestamp units, timezone errors, zero-volume metrics, and matching notebook/artifact run IDs. The local dependency stack emits upstream Keras/NumPy deprecation warnings without failing assertions. Overnight sessions and unbounded tick histories require further work.</a:t>
            </a:r>
          </a:p>
          <a:p xmlns:a="http://schemas.openxmlformats.org/drawingml/2006/main">
            <a:r>
              <a:t/>
            </a:r>
          </a:p>
          <a:p xmlns:a="http://schemas.openxmlformats.org/drawingml/2006/main">
            <a:r>
              <a:t>Sources:</a:t>
            </a:r>
          </a:p>
          <a:p xmlns:a="http://schemas.openxmlformats.org/drawingml/2006/main">
            <a:r>
              <a:t>https://github.com/BikashCoder31/intraday-volume-lab/blob/main/docs/VERIFICATION.md</a:t>
            </a:r>
          </a:p>
          <a:p xmlns:a="http://schemas.openxmlformats.org/drawingml/2006/main">
            <a:r>
              <a:t>https://github.com/BikashCoder31/intraday-volume-lab/blob/main/tests/test_volume_lab.py</a:t>
            </a:r>
          </a:p>
          <a:p xmlns:a="http://schemas.openxmlformats.org/drawingml/2006/main">
            <a:r>
              <a:t>https://github.com/BikashCoder31/intraday-volume-lab/blob/main/.github/workflows/checks.yml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deployed static report. Complete setup commands use the project virtual environment interpreter as documented in README.md. Execute all notebook cells in order before calling tools/export_report.py. Vercel serves the pre-exported site folder and does not retrain the model. GitHub: https://github.com/BikashCoder31/intraday-volume-lab</a:t>
            </a:r>
          </a:p>
          <a:p xmlns:a="http://schemas.openxmlformats.org/drawingml/2006/main">
            <a:r>
              <a:t>Live report: https://intraday-volume-lab.vercel.app</a:t>
            </a:r>
          </a:p>
          <a:p xmlns:a="http://schemas.openxmlformats.org/drawingml/2006/main">
            <a:r>
              <a:t/>
            </a:r>
          </a:p>
          <a:p xmlns:a="http://schemas.openxmlformats.org/drawingml/2006/main">
            <a:r>
              <a:t>Sources:</a:t>
            </a:r>
          </a:p>
          <a:p xmlns:a="http://schemas.openxmlformats.org/drawingml/2006/main">
            <a:r>
              <a:t>https://github.com/BikashCoder31/intraday-volume-lab/blob/main/README.md</a:t>
            </a:r>
          </a:p>
          <a:p xmlns:a="http://schemas.openxmlformats.org/drawingml/2006/main">
            <a:r>
              <a:t>https://github.com/BikashCoder31/intraday-volume-lab/blob/main/docs/PUBLISHING.md</a:t>
            </a:r>
          </a:p>
          <a:p xmlns:a="http://schemas.openxmlformats.org/drawingml/2006/main">
            <a:r>
              <a:t>https://github.com/BikashCoder31/intraday-volume-lab/blob/main/docs/screenshots/01-report-overview.png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316fe0e1cefa4c72" /></Relationships>
</file>

<file path=ppt/slideLayouts/_rels/slideLayout2.xml.rels><?xml version="1.0" encoding="utf-8"?><Relationships xmlns="http://schemas.openxmlformats.org/package/2006/relationships"><Relationship Type="http://schemas.openxmlformats.org/officeDocument/2006/relationships/slideMaster" Target="/ppt/slideMasters/slideMaster1.xml" Id="Rde11de11a64e4486" /></Relationships>
</file>

<file path=ppt/slideLayouts/_rels/slideLayout3.xml.rels><?xml version="1.0" encoding="utf-8"?><Relationships xmlns="http://schemas.openxmlformats.org/package/2006/relationships"><Relationship Type="http://schemas.openxmlformats.org/officeDocument/2006/relationships/slideMaster" Target="/ppt/slideMasters/slideMaster1.xml" Id="Rf1b6fe7397ba44ec" /></Relationships>
</file>

<file path=ppt/slideLayouts/_rels/slideLayout4.xml.rels><?xml version="1.0" encoding="utf-8"?><Relationships xmlns="http://schemas.openxmlformats.org/package/2006/relationships"><Relationship Type="http://schemas.openxmlformats.org/officeDocument/2006/relationships/slideMaster" Target="/ppt/slideMasters/slideMaster1.xml" Id="Rfa3a30c50d76445a" /></Relationships>
</file>

<file path=ppt/slideLayouts/_rels/slideLayout5.xml.rels><?xml version="1.0" encoding="utf-8"?><Relationships xmlns="http://schemas.openxmlformats.org/package/2006/relationships"><Relationship Type="http://schemas.openxmlformats.org/officeDocument/2006/relationships/slideMaster" Target="/ppt/slideMasters/slideMaster1.xml" Id="R04f4458914874fb8" /></Relationships>
</file>

<file path=ppt/slideLayouts/_rels/slideLayout6.xml.rels><?xml version="1.0" encoding="utf-8"?><Relationships xmlns="http://schemas.openxmlformats.org/package/2006/relationships"><Relationship Type="http://schemas.openxmlformats.org/officeDocument/2006/relationships/slideMaster" Target="/ppt/slideMasters/slideMaster1.xml" Id="R5b0228322ac445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75872-2563-4253-9844-B152F74435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4203C2-6BF1-487A-B4F8-2FFAB9962C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DBBE5B-DC84-467E-9C25-21AE82EE4C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C4AB09-BEF9-4054-B706-E299B30D27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298241-9D60-4427-A7FE-08C34B4FD1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9BE615-A6A1-4D9B-94D4-1ECDA4B427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4B7E26-C61A-4540-BFFF-7590D6AA5F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A639B8-D861-41B7-BEF5-9477F0DB1B5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F6E0AB-43B1-44E4-96AD-873537CD80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392DF1-D072-4C81-B7F0-D1F77D4DF0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4baf887b523745b9" /><Relationship Type="http://schemas.openxmlformats.org/officeDocument/2006/relationships/slideLayout" Target="/ppt/slideLayouts/slideLayout1.xml" Id="Rba29929c96b74a6b" /><Relationship Type="http://schemas.openxmlformats.org/officeDocument/2006/relationships/slideLayout" Target="/ppt/slideLayouts/slideLayout2.xml" Id="Rc26df415f0c041f7" /><Relationship Type="http://schemas.openxmlformats.org/officeDocument/2006/relationships/slideLayout" Target="/ppt/slideLayouts/slideLayout3.xml" Id="Rb5b7c706900c481a" /><Relationship Type="http://schemas.openxmlformats.org/officeDocument/2006/relationships/slideLayout" Target="/ppt/slideLayouts/slideLayout4.xml" Id="Rb6fae74494594ed7" /><Relationship Type="http://schemas.openxmlformats.org/officeDocument/2006/relationships/slideLayout" Target="/ppt/slideLayouts/slideLayout5.xml" Id="R800afa62567240b1" /><Relationship Type="http://schemas.openxmlformats.org/officeDocument/2006/relationships/slideLayout" Target="/ppt/slideLayouts/slideLayout6.xml" Id="R53549080fd7948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29929c96b74a6b"/>
    <p:sldLayoutId xmlns:r="http://schemas.openxmlformats.org/officeDocument/2006/relationships" id="2147483650" r:id="Rc26df415f0c041f7"/>
    <p:sldLayoutId xmlns:r="http://schemas.openxmlformats.org/officeDocument/2006/relationships" id="2147483651" r:id="Rb5b7c706900c481a"/>
    <p:sldLayoutId xmlns:r="http://schemas.openxmlformats.org/officeDocument/2006/relationships" id="2147483652" r:id="Rb6fae74494594ed7"/>
    <p:sldLayoutId xmlns:r="http://schemas.openxmlformats.org/officeDocument/2006/relationships" id="2147483653" r:id="R800afa62567240b1"/>
    <p:sldLayoutId xmlns:r="http://schemas.openxmlformats.org/officeDocument/2006/relationships" id="2147483654" r:id="R53549080fd7948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ntraday Volume Lab">
  <a:themeElements>
    <a:clrScheme name="Intraday Volume Lab">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Intraday Volume La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6.xml" Id="R3bf4388c6af24a72" /><Relationship Type="http://schemas.openxmlformats.org/officeDocument/2006/relationships/notesSlide" Target="/ppt/notesSlides/notesSlide1.xml" Id="Rf276d9f829ad47ab" /></Relationships>
</file>

<file path=ppt/slides/_rels/slide2.xml.rels><?xml version="1.0" encoding="utf-8"?><Relationships xmlns="http://schemas.openxmlformats.org/package/2006/relationships"><Relationship Type="http://schemas.openxmlformats.org/officeDocument/2006/relationships/slideLayout" Target="/ppt/slideLayouts/slideLayout6.xml" Id="R8ca48fadbbca42bc" /><Relationship Type="http://schemas.openxmlformats.org/officeDocument/2006/relationships/notesSlide" Target="/ppt/notesSlides/notesSlide2.xml" Id="Rff568cf4b51a4029" /></Relationships>
</file>

<file path=ppt/slides/_rels/slide3.xml.rels><?xml version="1.0" encoding="utf-8"?><Relationships xmlns="http://schemas.openxmlformats.org/package/2006/relationships"><Relationship Type="http://schemas.openxmlformats.org/officeDocument/2006/relationships/slideLayout" Target="/ppt/slideLayouts/slideLayout6.xml" Id="Rc1f1a47558df4772" /><Relationship Type="http://schemas.openxmlformats.org/officeDocument/2006/relationships/notesSlide" Target="/ppt/notesSlides/notesSlide3.xml" Id="R799f8a8535d84d8a" /></Relationships>
</file>

<file path=ppt/slides/_rels/slide4.xml.rels><?xml version="1.0" encoding="utf-8"?><Relationships xmlns="http://schemas.openxmlformats.org/package/2006/relationships"><Relationship Type="http://schemas.openxmlformats.org/officeDocument/2006/relationships/slideLayout" Target="/ppt/slideLayouts/slideLayout6.xml" Id="Rf241fac79aed48b4" /><Relationship Type="http://schemas.openxmlformats.org/officeDocument/2006/relationships/notesSlide" Target="/ppt/notesSlides/notesSlide4.xml" Id="Rf7531998eccd4fae" /></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ced23b21b58a4b05" /><Relationship Type="http://schemas.openxmlformats.org/officeDocument/2006/relationships/notesSlide" Target="/ppt/notesSlides/notesSlide5.xml" Id="R784e740516dd4dc2"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a1ec70a3ef8a4705" /><Relationship Type="http://schemas.openxmlformats.org/officeDocument/2006/relationships/chart" Target="/ppt/slides/charts/chart1.xml" Id="Rfc9a4b5987804a6f" /><Relationship Type="http://schemas.openxmlformats.org/officeDocument/2006/relationships/notesSlide" Target="/ppt/notesSlides/notesSlide6.xml" Id="Rfe8e78247d994742"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0d09b2962e9d4607" /><Relationship Type="http://schemas.openxmlformats.org/officeDocument/2006/relationships/notesSlide" Target="/ppt/notesSlides/notesSlide7.xml" Id="Redd1256c9ca342b7"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3b42ffece5064957" /><Relationship Type="http://schemas.openxmlformats.org/officeDocument/2006/relationships/image" Target="/ppt/media/image.png" Id="R7cead05a5d2d452c" /><Relationship Type="http://schemas.openxmlformats.org/officeDocument/2006/relationships/hyperlink" Target="https://github.com/BikashCoder31/intraday-volume-lab" TargetMode="External" Id="Rfa0bad400b5c45b6" /><Relationship Type="http://schemas.openxmlformats.org/officeDocument/2006/relationships/hyperlink" Target="https://intraday-volume-lab.vercel.app" TargetMode="External" Id="Rc93f0cfe6e5b489c" /><Relationship Type="http://schemas.openxmlformats.org/officeDocument/2006/relationships/notesSlide" Target="/ppt/notesSlides/notesSlide8.xml" Id="R2ddd5d23ff034a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183340"/>
                </a:solidFill>
                <a:latin typeface="Arial"/>
                <a:ea typeface="Arial"/>
                <a:cs typeface="Arial"/>
              </a:rPr>
              <a:t>Mean absolute error (shares)</a:t>
            </a:r>
          </a:p>
        </c:rich>
      </c:tx>
      <c:overlay val="0"/>
      <c:txPr>
        <a:bodyPr xmlns:a="http://schemas.openxmlformats.org/drawingml/2006/main" anchorCtr="1"/>
        <a:lstStyle xmlns:a="http://schemas.openxmlformats.org/drawingml/2006/main"/>
        <a:p xmlns:a="http://schemas.openxmlformats.org/drawingml/2006/main">
          <a:pPr>
            <a:defRPr sz="1950">
              <a:solidFill>
                <a:srgbClr val="183340"/>
              </a:solidFill>
              <a:latin typeface="Arial"/>
              <a:ea typeface="Arial"/>
              <a:cs typeface="Arial"/>
            </a:defRPr>
          </a:pPr>
        </a:p>
      </c:txPr>
    </c:title>
    <c:plotArea>
      <c:barChart>
        <c:barDir val="bar"/>
        <c:grouping val="clustered"/>
        <c:varyColors val="0"/>
        <c:ser>
          <c:idx val="0"/>
          <c:order val="0"/>
          <c:tx>
            <c:v>MAE</c:v>
          </c:tx>
          <c:spPr>
            <a:solidFill xmlns:a="http://schemas.openxmlformats.org/drawingml/2006/main">
              <a:srgbClr val="11838A"/>
            </a:solidFill>
          </c:spPr>
          <c:invertIfNegative val="0"/>
          <c:dPt>
            <c:idx val="1"/>
            <c:invertIfNegative val="0"/>
            <c:spPr>
              <a:solidFill xmlns:a="http://schemas.openxmlformats.org/drawingml/2006/main">
                <a:srgbClr val="BD6D26"/>
              </a:solidFill>
            </c:spPr>
          </c:dPt>
          <c:cat>
            <c:strRef>
              <c:f>'Chart Data'!$A$2:$A$3</c:f>
              <c:strCache>
                <c:ptCount val="2"/>
                <c:pt idx="0">
                  <c:v>CNN</c:v>
                </c:pt>
                <c:pt idx="1">
                  <c:v>Persistence</c:v>
                </c:pt>
              </c:strCache>
            </c:strRef>
          </c:cat>
          <c:val>
            <c:numRef>
              <c:f>'Chart Data'!$B$2:$B$3</c:f>
              <c:numCache>
                <c:formatCode>0.00</c:formatCode>
                <c:ptCount val="2"/>
                <c:pt idx="0">
                  <c:v>165.19</c:v>
                </c:pt>
                <c:pt idx="1">
                  <c:v>94.79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833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FDCDF"/>
            </a:solidFill>
          </a:ln>
        </c:spPr>
        <c:txPr>
          <a:bodyPr xmlns:a="http://schemas.openxmlformats.org/drawingml/2006/main" anchorCtr="1"/>
          <a:lstStyle xmlns:a="http://schemas.openxmlformats.org/drawingml/2006/main"/>
          <a:p xmlns:a="http://schemas.openxmlformats.org/drawingml/2006/main">
            <a:pPr>
              <a:defRPr sz="1725">
                <a:solidFill>
                  <a:srgbClr val="183340"/>
                </a:solidFill>
                <a:latin typeface="Arial"/>
                <a:ea typeface="Arial"/>
                <a:cs typeface="Arial"/>
              </a:defRPr>
            </a:pPr>
          </a:p>
        </c:txPr>
        <c:crossAx val="48672768"/>
      </c:catAx>
      <c:valAx>
        <c:axId val="48672768"/>
        <c:scaling>
          <c:orientation val="minMax"/>
          <c:max val="200"/>
          <c:min val="0"/>
        </c:scaling>
        <c:delete val="0"/>
        <c:axPos val="b"/>
        <c:majorGridlines>
          <c:spPr>
            <a:ln xmlns:a="http://schemas.openxmlformats.org/drawingml/2006/main" w="9525">
              <a:solidFill>
                <a:srgbClr val="CFDC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875"/>
                </a:solidFill>
                <a:latin typeface="Arial"/>
                <a:ea typeface="Arial"/>
                <a:cs typeface="Arial"/>
              </a:defRPr>
            </a:pPr>
          </a:p>
        </c:txPr>
        <c:crossAx val="48650112"/>
        <c:crossBetween val="between"/>
        <c:majorUnit val="50"/>
      </c:valAx>
      <c:spPr>
        <a:solidFill xmlns:a="http://schemas.openxmlformats.org/drawingml/2006/main">
          <a:srgbClr val="FBFCFC"/>
        </a:solidFill>
      </c:spPr>
    </c:plotArea>
    <c:plotVisOnly val="1"/>
  </c:chart>
  <c:spPr>
    <a:solidFill xmlns:a="http://schemas.openxmlformats.org/drawingml/2006/main">
      <a:srgbClr val="FBFCF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23F"/>
        </a:solidFill>
      </p:bgPr>
    </p:bg>
    <p:spTree>
      <p:nvGrpSpPr>
        <p:cNvPr id="1" name=""/>
        <p:cNvGrpSpPr/>
        <p:nvPr/>
      </p:nvGrpSpPr>
      <p:grpSpPr>
        <a:xfrm xmlns:a="http://schemas.openxmlformats.org/drawingml/2006/main"/>
      </p:grpSpPr>
      <p:sp>
        <p:nvSpPr>
          <p:cNvPr id="5" name="project-title">
            <a:extLst xmlns:a="http://schemas.openxmlformats.org/drawingml/2006/main">
              <a:ext uri="{FF2B5EF4-FFF2-40B4-BE49-F238E27FC236}">
                <a16:creationId xmlns:a16="http://schemas.microsoft.com/office/drawing/2014/main" id="{DD8DC72B-256B-4D67-AE9F-662E6F28F91D}"/>
              </a:ext>
            </a:extLst>
          </p:cNvPr>
          <p:cNvSpPr>
            <a:spLocks xmlns:a="http://schemas.openxmlformats.org/drawingml/2006/main" noGrp="1"/>
          </p:cNvSpPr>
          <p:nvPr/>
        </p:nvSpPr>
        <p:spPr>
          <a:xfrm xmlns:a="http://schemas.openxmlformats.org/drawingml/2006/main">
            <a:off x="762000" y="106680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750" b="1">
                <a:solidFill>
                  <a:srgbClr val="FFFFFF"/>
                </a:solidFill>
                <a:latin typeface="Arial"/>
                <a:ea typeface="Arial"/>
                <a:cs typeface="Arial"/>
              </a:defRPr>
            </a:defPPr>
            <a:lvl1pPr>
              <a:defRPr sz="6750" b="1">
                <a:solidFill>
                  <a:srgbClr val="FFFFFF"/>
                </a:solidFill>
                <a:latin typeface="Arial"/>
                <a:ea typeface="Arial"/>
                <a:cs typeface="Arial"/>
              </a:defRPr>
            </a:lvl1pPr>
            <a:lvl2pPr>
              <a:defRPr sz="6750" b="1">
                <a:solidFill>
                  <a:srgbClr val="FFFFFF"/>
                </a:solidFill>
                <a:latin typeface="Arial"/>
                <a:ea typeface="Arial"/>
                <a:cs typeface="Arial"/>
              </a:defRPr>
            </a:lvl2pPr>
            <a:lvl3pPr>
              <a:defRPr sz="6750" b="1">
                <a:solidFill>
                  <a:srgbClr val="FFFFFF"/>
                </a:solidFill>
                <a:latin typeface="Arial"/>
                <a:ea typeface="Arial"/>
                <a:cs typeface="Arial"/>
              </a:defRPr>
            </a:lvl3pPr>
            <a:lvl4pPr>
              <a:defRPr sz="6750" b="1">
                <a:solidFill>
                  <a:srgbClr val="FFFFFF"/>
                </a:solidFill>
                <a:latin typeface="Arial"/>
                <a:ea typeface="Arial"/>
                <a:cs typeface="Arial"/>
              </a:defRPr>
            </a:lvl4pPr>
            <a:lvl5pPr>
              <a:defRPr sz="6750" b="1">
                <a:solidFill>
                  <a:srgbClr val="FFFFFF"/>
                </a:solidFill>
                <a:latin typeface="Arial"/>
                <a:ea typeface="Arial"/>
                <a:cs typeface="Arial"/>
              </a:defRPr>
            </a:lvl5pPr>
            <a:lvl6pPr>
              <a:defRPr sz="6750" b="1">
                <a:solidFill>
                  <a:srgbClr val="FFFFFF"/>
                </a:solidFill>
                <a:latin typeface="Arial"/>
                <a:ea typeface="Arial"/>
                <a:cs typeface="Arial"/>
              </a:defRPr>
            </a:lvl6pPr>
            <a:lvl7pPr>
              <a:defRPr sz="6750" b="1">
                <a:solidFill>
                  <a:srgbClr val="FFFFFF"/>
                </a:solidFill>
                <a:latin typeface="Arial"/>
                <a:ea typeface="Arial"/>
                <a:cs typeface="Arial"/>
              </a:defRPr>
            </a:lvl7pPr>
            <a:lvl8pPr>
              <a:defRPr sz="6750" b="1">
                <a:solidFill>
                  <a:srgbClr val="FFFFFF"/>
                </a:solidFill>
                <a:latin typeface="Arial"/>
                <a:ea typeface="Arial"/>
                <a:cs typeface="Arial"/>
              </a:defRPr>
            </a:lvl8pPr>
            <a:lvl9pPr>
              <a:defRPr sz="6750" b="1">
                <a:solidFill>
                  <a:srgbClr val="FFFFFF"/>
                </a:solidFill>
                <a:latin typeface="Arial"/>
                <a:ea typeface="Arial"/>
                <a:cs typeface="Arial"/>
              </a:defRPr>
            </a:lvl9pPr>
          </a:lstStyle>
          <a:p xmlns:a="http://schemas.openxmlformats.org/drawingml/2006/main">
            <a:pPr>
              <a:defRPr sz="6750" b="1">
                <a:solidFill>
                  <a:srgbClr val="FFFFFF"/>
                </a:solidFill>
                <a:latin typeface="Arial"/>
                <a:ea typeface="Arial"/>
                <a:cs typeface="Arial"/>
              </a:defRPr>
            </a:pPr>
            <a:r>
              <a:rPr sz="6750" b="1">
                <a:solidFill>
                  <a:srgbClr val="FFFFFF"/>
                </a:solidFill>
                <a:latin typeface="Arial"/>
                <a:ea typeface="Arial"/>
                <a:cs typeface="Arial"/>
              </a:rPr>
              <a:t>Intraday</a:t>
            </a:r>
          </a:p>
          <a:p xmlns:a="http://schemas.openxmlformats.org/drawingml/2006/main">
            <a:pPr>
              <a:defRPr sz="6750" b="1">
                <a:solidFill>
                  <a:srgbClr val="FFFFFF"/>
                </a:solidFill>
                <a:latin typeface="Arial"/>
                <a:ea typeface="Arial"/>
                <a:cs typeface="Arial"/>
              </a:defRPr>
            </a:pPr>
            <a:r>
              <a:rPr sz="6750" b="1">
                <a:solidFill>
                  <a:srgbClr val="FFFFFF"/>
                </a:solidFill>
                <a:latin typeface="Arial"/>
                <a:ea typeface="Arial"/>
                <a:cs typeface="Arial"/>
              </a:rPr>
              <a:t>Volume Lab</a:t>
            </a:r>
          </a:p>
        </p:txBody>
      </p:sp>
      <p:sp>
        <p:nvSpPr>
          <p:cNvPr id="2" name="project-purpose">
            <a:extLst xmlns:a="http://schemas.openxmlformats.org/drawingml/2006/main">
              <a:ext uri="{FF2B5EF4-FFF2-40B4-BE49-F238E27FC236}">
                <a16:creationId xmlns:a16="http://schemas.microsoft.com/office/drawing/2014/main" id="{28A5F22A-309A-44BB-B389-BAA4B69B64FA}"/>
              </a:ext>
            </a:extLst>
          </p:cNvPr>
          <p:cNvSpPr>
            <a:spLocks xmlns:a="http://schemas.openxmlformats.org/drawingml/2006/main" noGrp="1"/>
          </p:cNvSpPr>
          <p:nvPr/>
        </p:nvSpPr>
        <p:spPr>
          <a:xfrm xmlns:a="http://schemas.openxmlformats.org/drawingml/2006/main">
            <a:off x="800100" y="3486150"/>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a:solidFill>
                  <a:srgbClr val="A7DBD9"/>
                </a:solidFill>
                <a:latin typeface="Arial"/>
                <a:ea typeface="Arial"/>
                <a:cs typeface="Arial"/>
              </a:defRPr>
            </a:defPPr>
            <a:lvl1pPr>
              <a:defRPr sz="2700">
                <a:solidFill>
                  <a:srgbClr val="A7DBD9"/>
                </a:solidFill>
                <a:latin typeface="Arial"/>
                <a:ea typeface="Arial"/>
                <a:cs typeface="Arial"/>
              </a:defRPr>
            </a:lvl1pPr>
            <a:lvl2pPr>
              <a:defRPr sz="2700">
                <a:solidFill>
                  <a:srgbClr val="A7DBD9"/>
                </a:solidFill>
                <a:latin typeface="Arial"/>
                <a:ea typeface="Arial"/>
                <a:cs typeface="Arial"/>
              </a:defRPr>
            </a:lvl2pPr>
            <a:lvl3pPr>
              <a:defRPr sz="2700">
                <a:solidFill>
                  <a:srgbClr val="A7DBD9"/>
                </a:solidFill>
                <a:latin typeface="Arial"/>
                <a:ea typeface="Arial"/>
                <a:cs typeface="Arial"/>
              </a:defRPr>
            </a:lvl3pPr>
            <a:lvl4pPr>
              <a:defRPr sz="2700">
                <a:solidFill>
                  <a:srgbClr val="A7DBD9"/>
                </a:solidFill>
                <a:latin typeface="Arial"/>
                <a:ea typeface="Arial"/>
                <a:cs typeface="Arial"/>
              </a:defRPr>
            </a:lvl4pPr>
            <a:lvl5pPr>
              <a:defRPr sz="2700">
                <a:solidFill>
                  <a:srgbClr val="A7DBD9"/>
                </a:solidFill>
                <a:latin typeface="Arial"/>
                <a:ea typeface="Arial"/>
                <a:cs typeface="Arial"/>
              </a:defRPr>
            </a:lvl5pPr>
            <a:lvl6pPr>
              <a:defRPr sz="2700">
                <a:solidFill>
                  <a:srgbClr val="A7DBD9"/>
                </a:solidFill>
                <a:latin typeface="Arial"/>
                <a:ea typeface="Arial"/>
                <a:cs typeface="Arial"/>
              </a:defRPr>
            </a:lvl6pPr>
            <a:lvl7pPr>
              <a:defRPr sz="2700">
                <a:solidFill>
                  <a:srgbClr val="A7DBD9"/>
                </a:solidFill>
                <a:latin typeface="Arial"/>
                <a:ea typeface="Arial"/>
                <a:cs typeface="Arial"/>
              </a:defRPr>
            </a:lvl7pPr>
            <a:lvl8pPr>
              <a:defRPr sz="2700">
                <a:solidFill>
                  <a:srgbClr val="A7DBD9"/>
                </a:solidFill>
                <a:latin typeface="Arial"/>
                <a:ea typeface="Arial"/>
                <a:cs typeface="Arial"/>
              </a:defRPr>
            </a:lvl8pPr>
            <a:lvl9pPr>
              <a:defRPr sz="2700">
                <a:solidFill>
                  <a:srgbClr val="A7DBD9"/>
                </a:solidFill>
                <a:latin typeface="Arial"/>
                <a:ea typeface="Arial"/>
                <a:cs typeface="Arial"/>
              </a:defRPr>
            </a:lvl9pPr>
          </a:lstStyle>
          <a:p xmlns:a="http://schemas.openxmlformats.org/drawingml/2006/main">
            <a:pPr>
              <a:defRPr sz="2700">
                <a:solidFill>
                  <a:srgbClr val="A7DBD9"/>
                </a:solidFill>
                <a:latin typeface="Arial"/>
                <a:ea typeface="Arial"/>
                <a:cs typeface="Arial"/>
              </a:defRPr>
            </a:pPr>
            <a:r>
              <a:rPr sz="2700">
                <a:solidFill>
                  <a:srgbClr val="A7DBD9"/>
                </a:solidFill>
                <a:latin typeface="Arial"/>
                <a:ea typeface="Arial"/>
                <a:cs typeface="Arial"/>
              </a:rPr>
              <a:t>Next-minute volume forecasting</a:t>
            </a:r>
          </a:p>
        </p:txBody>
      </p:sp>
      <p:sp>
        <p:nvSpPr>
          <p:cNvPr id="3" name="maintainer">
            <a:extLst xmlns:a="http://schemas.openxmlformats.org/drawingml/2006/main">
              <a:ext uri="{FF2B5EF4-FFF2-40B4-BE49-F238E27FC236}">
                <a16:creationId xmlns:a16="http://schemas.microsoft.com/office/drawing/2014/main" id="{A46030FD-F95A-4FAF-B799-FDA2BAB2E1B5}"/>
              </a:ext>
            </a:extLst>
          </p:cNvPr>
          <p:cNvSpPr>
            <a:spLocks xmlns:a="http://schemas.openxmlformats.org/drawingml/2006/main" noGrp="1"/>
          </p:cNvSpPr>
          <p:nvPr/>
        </p:nvSpPr>
        <p:spPr>
          <a:xfrm xmlns:a="http://schemas.openxmlformats.org/drawingml/2006/main">
            <a:off x="800100" y="4591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Bikash Kushwaha</a:t>
            </a:r>
          </a:p>
        </p:txBody>
      </p:sp>
      <p:sp>
        <p:nvSpPr>
          <p:cNvPr id="4" name="demo-disclosure">
            <a:extLst xmlns:a="http://schemas.openxmlformats.org/drawingml/2006/main">
              <a:ext uri="{FF2B5EF4-FFF2-40B4-BE49-F238E27FC236}">
                <a16:creationId xmlns:a16="http://schemas.microsoft.com/office/drawing/2014/main" id="{F4E2BE7C-2E57-4254-BB9B-36304FFDB448}"/>
              </a:ext>
            </a:extLst>
          </p:cNvPr>
          <p:cNvSpPr>
            <a:spLocks xmlns:a="http://schemas.openxmlformats.org/drawingml/2006/main" noGrp="1"/>
          </p:cNvSpPr>
          <p:nvPr/>
        </p:nvSpPr>
        <p:spPr>
          <a:xfrm xmlns:a="http://schemas.openxmlformats.org/drawingml/2006/main">
            <a:off x="800100" y="558165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D5E5E8"/>
                </a:solidFill>
                <a:latin typeface="Arial"/>
                <a:ea typeface="Arial"/>
                <a:cs typeface="Arial"/>
              </a:defRPr>
            </a:defPPr>
            <a:lvl1pPr>
              <a:defRPr sz="1800">
                <a:solidFill>
                  <a:srgbClr val="D5E5E8"/>
                </a:solidFill>
                <a:latin typeface="Arial"/>
                <a:ea typeface="Arial"/>
                <a:cs typeface="Arial"/>
              </a:defRPr>
            </a:lvl1pPr>
            <a:lvl2pPr>
              <a:defRPr sz="1800">
                <a:solidFill>
                  <a:srgbClr val="D5E5E8"/>
                </a:solidFill>
                <a:latin typeface="Arial"/>
                <a:ea typeface="Arial"/>
                <a:cs typeface="Arial"/>
              </a:defRPr>
            </a:lvl2pPr>
            <a:lvl3pPr>
              <a:defRPr sz="1800">
                <a:solidFill>
                  <a:srgbClr val="D5E5E8"/>
                </a:solidFill>
                <a:latin typeface="Arial"/>
                <a:ea typeface="Arial"/>
                <a:cs typeface="Arial"/>
              </a:defRPr>
            </a:lvl3pPr>
            <a:lvl4pPr>
              <a:defRPr sz="1800">
                <a:solidFill>
                  <a:srgbClr val="D5E5E8"/>
                </a:solidFill>
                <a:latin typeface="Arial"/>
                <a:ea typeface="Arial"/>
                <a:cs typeface="Arial"/>
              </a:defRPr>
            </a:lvl4pPr>
            <a:lvl5pPr>
              <a:defRPr sz="1800">
                <a:solidFill>
                  <a:srgbClr val="D5E5E8"/>
                </a:solidFill>
                <a:latin typeface="Arial"/>
                <a:ea typeface="Arial"/>
                <a:cs typeface="Arial"/>
              </a:defRPr>
            </a:lvl5pPr>
            <a:lvl6pPr>
              <a:defRPr sz="1800">
                <a:solidFill>
                  <a:srgbClr val="D5E5E8"/>
                </a:solidFill>
                <a:latin typeface="Arial"/>
                <a:ea typeface="Arial"/>
                <a:cs typeface="Arial"/>
              </a:defRPr>
            </a:lvl6pPr>
            <a:lvl7pPr>
              <a:defRPr sz="1800">
                <a:solidFill>
                  <a:srgbClr val="D5E5E8"/>
                </a:solidFill>
                <a:latin typeface="Arial"/>
                <a:ea typeface="Arial"/>
                <a:cs typeface="Arial"/>
              </a:defRPr>
            </a:lvl7pPr>
            <a:lvl8pPr>
              <a:defRPr sz="1800">
                <a:solidFill>
                  <a:srgbClr val="D5E5E8"/>
                </a:solidFill>
                <a:latin typeface="Arial"/>
                <a:ea typeface="Arial"/>
                <a:cs typeface="Arial"/>
              </a:defRPr>
            </a:lvl8pPr>
            <a:lvl9pPr>
              <a:defRPr sz="1800">
                <a:solidFill>
                  <a:srgbClr val="D5E5E8"/>
                </a:solidFill>
                <a:latin typeface="Arial"/>
                <a:ea typeface="Arial"/>
                <a:cs typeface="Arial"/>
              </a:defRPr>
            </a:lvl9pPr>
          </a:lstStyle>
          <a:p xmlns:a="http://schemas.openxmlformats.org/drawingml/2006/main">
            <a:pPr>
              <a:defRPr sz="1800">
                <a:solidFill>
                  <a:srgbClr val="D5E5E8"/>
                </a:solidFill>
                <a:latin typeface="Arial"/>
                <a:ea typeface="Arial"/>
                <a:cs typeface="Arial"/>
              </a:defRPr>
            </a:pPr>
            <a:r>
              <a:rPr sz="1800">
                <a:solidFill>
                  <a:srgbClr val="D5E5E8"/>
                </a:solidFill>
                <a:latin typeface="Arial"/>
                <a:ea typeface="Arial"/>
                <a:cs typeface="Arial"/>
              </a:rPr>
              <a:t>Python research portfolio</a:t>
            </a:r>
          </a:p>
          <a:p xmlns:a="http://schemas.openxmlformats.org/drawingml/2006/main">
            <a:pPr>
              <a:defRPr sz="1800">
                <a:solidFill>
                  <a:srgbClr val="D5E5E8"/>
                </a:solidFill>
                <a:latin typeface="Arial"/>
                <a:ea typeface="Arial"/>
                <a:cs typeface="Arial"/>
              </a:defRPr>
            </a:pPr>
            <a:r>
              <a:rPr sz="1800">
                <a:solidFill>
                  <a:srgbClr val="D5E5E8"/>
                </a:solidFill>
                <a:latin typeface="Arial"/>
                <a:ea typeface="Arial"/>
                <a:cs typeface="Arial"/>
              </a:rPr>
              <a:t>Synthetic demonstration with fictional instruments</a:t>
            </a:r>
          </a:p>
        </p:txBody>
      </p:sp>
    </p:spTree>
    <p:extLst>
      <p:ext uri="{BB962C8B-B14F-4D97-AF65-F5344CB8AC3E}">
        <p14:creationId xmlns:p14="http://schemas.microsoft.com/office/powerpoint/2010/main" val="923626150"/>
      </p:ext>
    </p:extLst>
  </p:cSld>
</p:sld>
</file>

<file path=ppt/slides/slide2.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cxnSp>
        <p:nvCxnSpPr>
          <p:cNvPr id="6" name="">
            <a:extLst xmlns:a="http://schemas.openxmlformats.org/drawingml/2006/main">
              <a:ext uri="{FF2B5EF4-FFF2-40B4-BE49-F238E27FC236}">
                <a16:creationId xmlns:a16="http://schemas.microsoft.com/office/drawing/2014/main" id="{7E49E2AE-FC5F-40C7-86D1-D988D9AD2EA8}"/>
              </a:ext>
            </a:extLst>
          </p:cNvPr>
          <p:cNvCxnSpPr>
            <a:stCxn xmlns:a="http://schemas.openxmlformats.org/drawingml/2006/main" id="4" idx="3"/>
            <a:endCxn xmlns:a="http://schemas.openxmlformats.org/drawingml/2006/main" id="5" idx="1"/>
          </p:cNvCxnSpPr>
          <p:nvPr/>
        </p:nvCxnSpPr>
        <p:spPr>
          <a:xfrm xmlns:a="http://schemas.openxmlformats.org/drawingml/2006/main">
            <a:off x="5400675" y="3133725"/>
            <a:ext cx="1390650" cy="0"/>
          </a:xfrm>
          <a:prstGeom xmlns:a="http://schemas.openxmlformats.org/drawingml/2006/main" prst="straightConnector1">
            <a:avLst/>
          </a:prstGeom>
          <a:ln xmlns:a="http://schemas.openxmlformats.org/drawingml/2006/main" w="19050">
            <a:solidFill>
              <a:srgbClr val="11838A"/>
            </a:solidFill>
            <a:tailEnd type="triangle" w="med" len="med"/>
          </a:ln>
        </p:spPr>
      </p:cxnSp>
      <p:sp>
        <p:nvSpPr>
          <p:cNvPr id="11" name="slide-title">
            <a:extLst xmlns:a="http://schemas.openxmlformats.org/drawingml/2006/main">
              <a:ext uri="{FF2B5EF4-FFF2-40B4-BE49-F238E27FC236}">
                <a16:creationId xmlns:a16="http://schemas.microsoft.com/office/drawing/2014/main" id="{EBD9A81E-BE6A-4586-BC6F-D14907CFABD7}"/>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Forecasting objective</a:t>
            </a:r>
          </a:p>
        </p:txBody>
      </p:sp>
      <p:sp>
        <p:nvSpPr>
          <p:cNvPr id="2" name="page-number">
            <a:extLst xmlns:a="http://schemas.openxmlformats.org/drawingml/2006/main">
              <a:ext uri="{FF2B5EF4-FFF2-40B4-BE49-F238E27FC236}">
                <a16:creationId xmlns:a16="http://schemas.microsoft.com/office/drawing/2014/main" id="{D55E4F3E-4BB6-46DC-B619-4544BB51ED7D}"/>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02</a:t>
            </a:r>
          </a:p>
        </p:txBody>
      </p:sp>
      <p:sp>
        <p:nvSpPr>
          <p:cNvPr id="3" name="objective-introduction">
            <a:extLst xmlns:a="http://schemas.openxmlformats.org/drawingml/2006/main">
              <a:ext uri="{FF2B5EF4-FFF2-40B4-BE49-F238E27FC236}">
                <a16:creationId xmlns:a16="http://schemas.microsoft.com/office/drawing/2014/main" id="{B9BA5EA6-F416-4219-874F-4A1BE4311591}"/>
              </a:ext>
            </a:extLst>
          </p:cNvPr>
          <p:cNvSpPr>
            <a:spLocks xmlns:a="http://schemas.openxmlformats.org/drawingml/2006/main" noGrp="1"/>
          </p:cNvSpPr>
          <p:nvPr/>
        </p:nvSpPr>
        <p:spPr>
          <a:xfrm xmlns:a="http://schemas.openxmlformats.org/drawingml/2006/main">
            <a:off x="685800" y="1371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83340"/>
                </a:solidFill>
                <a:latin typeface="Arial"/>
                <a:ea typeface="Arial"/>
                <a:cs typeface="Arial"/>
              </a:defRPr>
            </a:defPPr>
            <a:lvl1pPr>
              <a:defRPr sz="2175">
                <a:solidFill>
                  <a:srgbClr val="183340"/>
                </a:solidFill>
                <a:latin typeface="Arial"/>
                <a:ea typeface="Arial"/>
                <a:cs typeface="Arial"/>
              </a:defRPr>
            </a:lvl1pPr>
            <a:lvl2pPr>
              <a:defRPr sz="2175">
                <a:solidFill>
                  <a:srgbClr val="183340"/>
                </a:solidFill>
                <a:latin typeface="Arial"/>
                <a:ea typeface="Arial"/>
                <a:cs typeface="Arial"/>
              </a:defRPr>
            </a:lvl2pPr>
            <a:lvl3pPr>
              <a:defRPr sz="2175">
                <a:solidFill>
                  <a:srgbClr val="183340"/>
                </a:solidFill>
                <a:latin typeface="Arial"/>
                <a:ea typeface="Arial"/>
                <a:cs typeface="Arial"/>
              </a:defRPr>
            </a:lvl3pPr>
            <a:lvl4pPr>
              <a:defRPr sz="2175">
                <a:solidFill>
                  <a:srgbClr val="183340"/>
                </a:solidFill>
                <a:latin typeface="Arial"/>
                <a:ea typeface="Arial"/>
                <a:cs typeface="Arial"/>
              </a:defRPr>
            </a:lvl4pPr>
            <a:lvl5pPr>
              <a:defRPr sz="2175">
                <a:solidFill>
                  <a:srgbClr val="183340"/>
                </a:solidFill>
                <a:latin typeface="Arial"/>
                <a:ea typeface="Arial"/>
                <a:cs typeface="Arial"/>
              </a:defRPr>
            </a:lvl5pPr>
            <a:lvl6pPr>
              <a:defRPr sz="2175">
                <a:solidFill>
                  <a:srgbClr val="183340"/>
                </a:solidFill>
                <a:latin typeface="Arial"/>
                <a:ea typeface="Arial"/>
                <a:cs typeface="Arial"/>
              </a:defRPr>
            </a:lvl6pPr>
            <a:lvl7pPr>
              <a:defRPr sz="2175">
                <a:solidFill>
                  <a:srgbClr val="183340"/>
                </a:solidFill>
                <a:latin typeface="Arial"/>
                <a:ea typeface="Arial"/>
                <a:cs typeface="Arial"/>
              </a:defRPr>
            </a:lvl7pPr>
            <a:lvl8pPr>
              <a:defRPr sz="2175">
                <a:solidFill>
                  <a:srgbClr val="183340"/>
                </a:solidFill>
                <a:latin typeface="Arial"/>
                <a:ea typeface="Arial"/>
                <a:cs typeface="Arial"/>
              </a:defRPr>
            </a:lvl8pPr>
            <a:lvl9pPr>
              <a:defRPr sz="2175">
                <a:solidFill>
                  <a:srgbClr val="183340"/>
                </a:solidFill>
                <a:latin typeface="Arial"/>
                <a:ea typeface="Arial"/>
                <a:cs typeface="Arial"/>
              </a:defRPr>
            </a:lvl9pPr>
          </a:lstStyle>
          <a:p xmlns:a="http://schemas.openxmlformats.org/drawingml/2006/main">
            <a:pPr>
              <a:defRPr sz="2175">
                <a:solidFill>
                  <a:srgbClr val="183340"/>
                </a:solidFill>
                <a:latin typeface="Arial"/>
                <a:ea typeface="Arial"/>
                <a:cs typeface="Arial"/>
              </a:defRPr>
            </a:pPr>
            <a:r>
              <a:rPr sz="2175">
                <a:solidFill>
                  <a:srgbClr val="183340"/>
                </a:solidFill>
                <a:latin typeface="Arial"/>
                <a:ea typeface="Arial"/>
                <a:cs typeface="Arial"/>
              </a:rPr>
              <a:t>Predict interval volume in shares from information already available.</a:t>
            </a:r>
          </a:p>
        </p:txBody>
      </p:sp>
      <p:sp>
        <p:nvSpPr>
          <p:cNvPr id="4" name="Previous 15 complete one-minute bars">
            <a:extLst xmlns:a="http://schemas.openxmlformats.org/drawingml/2006/main">
              <a:ext uri="{FF2B5EF4-FFF2-40B4-BE49-F238E27FC236}">
                <a16:creationId xmlns:a16="http://schemas.microsoft.com/office/drawing/2014/main" id="{DCB3536D-D0FE-41BF-B266-850364C071F0}"/>
              </a:ext>
            </a:extLst>
          </p:cNvPr>
          <p:cNvSpPr>
            <a:spLocks xmlns:a="http://schemas.openxmlformats.org/drawingml/2006/main" noGrp="1"/>
          </p:cNvSpPr>
          <p:nvPr/>
        </p:nvSpPr>
        <p:spPr>
          <a:xfrm xmlns:a="http://schemas.openxmlformats.org/drawingml/2006/main">
            <a:off x="685800" y="2514600"/>
            <a:ext cx="4714875" cy="12382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2400">
                <a:solidFill>
                  <a:srgbClr val="183340"/>
                </a:solidFill>
                <a:latin typeface="Arial"/>
                <a:ea typeface="Arial"/>
                <a:cs typeface="Arial"/>
              </a:defRPr>
            </a:defPPr>
            <a:lvl1pPr algn="ctr">
              <a:defRPr sz="2400">
                <a:solidFill>
                  <a:srgbClr val="183340"/>
                </a:solidFill>
                <a:latin typeface="Arial"/>
                <a:ea typeface="Arial"/>
                <a:cs typeface="Arial"/>
              </a:defRPr>
            </a:lvl1pPr>
            <a:lvl2pPr algn="ctr">
              <a:defRPr sz="2400">
                <a:solidFill>
                  <a:srgbClr val="183340"/>
                </a:solidFill>
                <a:latin typeface="Arial"/>
                <a:ea typeface="Arial"/>
                <a:cs typeface="Arial"/>
              </a:defRPr>
            </a:lvl2pPr>
            <a:lvl3pPr algn="ctr">
              <a:defRPr sz="2400">
                <a:solidFill>
                  <a:srgbClr val="183340"/>
                </a:solidFill>
                <a:latin typeface="Arial"/>
                <a:ea typeface="Arial"/>
                <a:cs typeface="Arial"/>
              </a:defRPr>
            </a:lvl3pPr>
            <a:lvl4pPr algn="ctr">
              <a:defRPr sz="2400">
                <a:solidFill>
                  <a:srgbClr val="183340"/>
                </a:solidFill>
                <a:latin typeface="Arial"/>
                <a:ea typeface="Arial"/>
                <a:cs typeface="Arial"/>
              </a:defRPr>
            </a:lvl4pPr>
            <a:lvl5pPr algn="ctr">
              <a:defRPr sz="2400">
                <a:solidFill>
                  <a:srgbClr val="183340"/>
                </a:solidFill>
                <a:latin typeface="Arial"/>
                <a:ea typeface="Arial"/>
                <a:cs typeface="Arial"/>
              </a:defRPr>
            </a:lvl5pPr>
            <a:lvl6pPr algn="ctr">
              <a:defRPr sz="2400">
                <a:solidFill>
                  <a:srgbClr val="183340"/>
                </a:solidFill>
                <a:latin typeface="Arial"/>
                <a:ea typeface="Arial"/>
                <a:cs typeface="Arial"/>
              </a:defRPr>
            </a:lvl6pPr>
            <a:lvl7pPr algn="ctr">
              <a:defRPr sz="2400">
                <a:solidFill>
                  <a:srgbClr val="183340"/>
                </a:solidFill>
                <a:latin typeface="Arial"/>
                <a:ea typeface="Arial"/>
                <a:cs typeface="Arial"/>
              </a:defRPr>
            </a:lvl7pPr>
            <a:lvl8pPr algn="ctr">
              <a:defRPr sz="2400">
                <a:solidFill>
                  <a:srgbClr val="183340"/>
                </a:solidFill>
                <a:latin typeface="Arial"/>
                <a:ea typeface="Arial"/>
                <a:cs typeface="Arial"/>
              </a:defRPr>
            </a:lvl8pPr>
            <a:lvl9pPr algn="ctr">
              <a:defRPr sz="2400">
                <a:solidFill>
                  <a:srgbClr val="183340"/>
                </a:solidFill>
                <a:latin typeface="Arial"/>
                <a:ea typeface="Arial"/>
                <a:cs typeface="Arial"/>
              </a:defRPr>
            </a:lvl9pPr>
          </a:lstStyle>
          <a:p xmlns:a="http://schemas.openxmlformats.org/drawingml/2006/main">
            <a:pPr algn="ctr">
              <a:defRPr sz="2400">
                <a:solidFill>
                  <a:srgbClr val="183340"/>
                </a:solidFill>
                <a:latin typeface="Arial"/>
                <a:ea typeface="Arial"/>
                <a:cs typeface="Arial"/>
              </a:defRPr>
            </a:pPr>
            <a:r>
              <a:rPr sz="2400">
                <a:solidFill>
                  <a:srgbClr val="183340"/>
                </a:solidFill>
                <a:latin typeface="Arial"/>
                <a:ea typeface="Arial"/>
                <a:cs typeface="Arial"/>
              </a:rPr>
              <a:t>Previous 15 complete</a:t>
            </a:r>
          </a:p>
          <a:p xmlns:a="http://schemas.openxmlformats.org/drawingml/2006/main">
            <a:pPr algn="ctr">
              <a:defRPr sz="2400">
                <a:solidFill>
                  <a:srgbClr val="183340"/>
                </a:solidFill>
                <a:latin typeface="Arial"/>
                <a:ea typeface="Arial"/>
                <a:cs typeface="Arial"/>
              </a:defRPr>
            </a:pPr>
            <a:r>
              <a:rPr sz="2400">
                <a:solidFill>
                  <a:srgbClr val="183340"/>
                </a:solidFill>
                <a:latin typeface="Arial"/>
                <a:ea typeface="Arial"/>
                <a:cs typeface="Arial"/>
              </a:rPr>
              <a:t>one-minute bars</a:t>
            </a:r>
          </a:p>
        </p:txBody>
      </p:sp>
      <p:sp>
        <p:nvSpPr>
          <p:cNvPr id="5" name="Next-minute volume in shares">
            <a:extLst xmlns:a="http://schemas.openxmlformats.org/drawingml/2006/main">
              <a:ext uri="{FF2B5EF4-FFF2-40B4-BE49-F238E27FC236}">
                <a16:creationId xmlns:a16="http://schemas.microsoft.com/office/drawing/2014/main" id="{9988031A-6083-453A-92AA-20D9EF91B707}"/>
              </a:ext>
            </a:extLst>
          </p:cNvPr>
          <p:cNvSpPr>
            <a:spLocks xmlns:a="http://schemas.openxmlformats.org/drawingml/2006/main" noGrp="1"/>
          </p:cNvSpPr>
          <p:nvPr/>
        </p:nvSpPr>
        <p:spPr>
          <a:xfrm xmlns:a="http://schemas.openxmlformats.org/drawingml/2006/main">
            <a:off x="6791325" y="2514600"/>
            <a:ext cx="4714875" cy="1238250"/>
          </a:xfrm>
          <a:prstGeom xmlns:a="http://schemas.openxmlformats.org/drawingml/2006/main" prst="rect">
            <a:avLst/>
          </a:prstGeom>
          <a:solidFill xmlns:a="http://schemas.openxmlformats.org/drawingml/2006/main">
            <a:srgbClr val="17323F"/>
          </a:solidFill>
          <a:ln xmlns:a="http://schemas.openxmlformats.org/drawingml/2006/main" w="14288">
            <a:solidFill>
              <a:srgbClr val="17323F"/>
            </a:solidFill>
          </a:ln>
        </p:spPr>
        <p:txBody>
          <a:bodyPr xmlns:a="http://schemas.openxmlformats.org/drawingml/2006/main" lIns="133350" tIns="133350" rIns="133350" bIns="133350" anchor="ctr">
            <a:noAutofit/>
          </a:bodyPr>
          <a:lstStyle xmlns:a="http://schemas.openxmlformats.org/drawingml/2006/main">
            <a:defPPr algn="ctr">
              <a:defRPr sz="2400">
                <a:solidFill>
                  <a:srgbClr val="FFFFFF"/>
                </a:solidFill>
                <a:latin typeface="Arial"/>
                <a:ea typeface="Arial"/>
                <a:cs typeface="Arial"/>
              </a:defRPr>
            </a:defPPr>
            <a:lvl1pPr algn="ctr">
              <a:defRPr sz="2400">
                <a:solidFill>
                  <a:srgbClr val="FFFFFF"/>
                </a:solidFill>
                <a:latin typeface="Arial"/>
                <a:ea typeface="Arial"/>
                <a:cs typeface="Arial"/>
              </a:defRPr>
            </a:lvl1pPr>
            <a:lvl2pPr algn="ctr">
              <a:defRPr sz="2400">
                <a:solidFill>
                  <a:srgbClr val="FFFFFF"/>
                </a:solidFill>
                <a:latin typeface="Arial"/>
                <a:ea typeface="Arial"/>
                <a:cs typeface="Arial"/>
              </a:defRPr>
            </a:lvl2pPr>
            <a:lvl3pPr algn="ctr">
              <a:defRPr sz="2400">
                <a:solidFill>
                  <a:srgbClr val="FFFFFF"/>
                </a:solidFill>
                <a:latin typeface="Arial"/>
                <a:ea typeface="Arial"/>
                <a:cs typeface="Arial"/>
              </a:defRPr>
            </a:lvl3pPr>
            <a:lvl4pPr algn="ctr">
              <a:defRPr sz="2400">
                <a:solidFill>
                  <a:srgbClr val="FFFFFF"/>
                </a:solidFill>
                <a:latin typeface="Arial"/>
                <a:ea typeface="Arial"/>
                <a:cs typeface="Arial"/>
              </a:defRPr>
            </a:lvl4pPr>
            <a:lvl5pPr algn="ctr">
              <a:defRPr sz="2400">
                <a:solidFill>
                  <a:srgbClr val="FFFFFF"/>
                </a:solidFill>
                <a:latin typeface="Arial"/>
                <a:ea typeface="Arial"/>
                <a:cs typeface="Arial"/>
              </a:defRPr>
            </a:lvl5pPr>
            <a:lvl6pPr algn="ctr">
              <a:defRPr sz="2400">
                <a:solidFill>
                  <a:srgbClr val="FFFFFF"/>
                </a:solidFill>
                <a:latin typeface="Arial"/>
                <a:ea typeface="Arial"/>
                <a:cs typeface="Arial"/>
              </a:defRPr>
            </a:lvl6pPr>
            <a:lvl7pPr algn="ctr">
              <a:defRPr sz="2400">
                <a:solidFill>
                  <a:srgbClr val="FFFFFF"/>
                </a:solidFill>
                <a:latin typeface="Arial"/>
                <a:ea typeface="Arial"/>
                <a:cs typeface="Arial"/>
              </a:defRPr>
            </a:lvl7pPr>
            <a:lvl8pPr algn="ctr">
              <a:defRPr sz="2400">
                <a:solidFill>
                  <a:srgbClr val="FFFFFF"/>
                </a:solidFill>
                <a:latin typeface="Arial"/>
                <a:ea typeface="Arial"/>
                <a:cs typeface="Arial"/>
              </a:defRPr>
            </a:lvl8pPr>
            <a:lvl9pPr algn="ctr">
              <a:defRPr sz="2400">
                <a:solidFill>
                  <a:srgbClr val="FFFFFF"/>
                </a:solidFill>
                <a:latin typeface="Arial"/>
                <a:ea typeface="Arial"/>
                <a:cs typeface="Arial"/>
              </a:defRPr>
            </a:lvl9pPr>
          </a:lstStyle>
          <a:p xmlns:a="http://schemas.openxmlformats.org/drawingml/2006/main">
            <a:pPr algn="ctr">
              <a:defRPr sz="2400">
                <a:solidFill>
                  <a:srgbClr val="FFFFFF"/>
                </a:solidFill>
                <a:latin typeface="Arial"/>
                <a:ea typeface="Arial"/>
                <a:cs typeface="Arial"/>
              </a:defRPr>
            </a:pPr>
            <a:r>
              <a:rPr sz="2400">
                <a:solidFill>
                  <a:srgbClr val="FFFFFF"/>
                </a:solidFill>
                <a:latin typeface="Arial"/>
                <a:ea typeface="Arial"/>
                <a:cs typeface="Arial"/>
              </a:rPr>
              <a:t>Next-minute</a:t>
            </a:r>
          </a:p>
          <a:p xmlns:a="http://schemas.openxmlformats.org/drawingml/2006/main">
            <a:pPr algn="ctr">
              <a:defRPr sz="2400">
                <a:solidFill>
                  <a:srgbClr val="FFFFFF"/>
                </a:solidFill>
                <a:latin typeface="Arial"/>
                <a:ea typeface="Arial"/>
                <a:cs typeface="Arial"/>
              </a:defRPr>
            </a:pPr>
            <a:r>
              <a:rPr sz="2400">
                <a:solidFill>
                  <a:srgbClr val="FFFFFF"/>
                </a:solidFill>
                <a:latin typeface="Arial"/>
                <a:ea typeface="Arial"/>
                <a:cs typeface="Arial"/>
              </a:rPr>
              <a:t>volume in shares</a:t>
            </a:r>
          </a:p>
        </p:txBody>
      </p:sp>
      <p:sp>
        <p:nvSpPr>
          <p:cNvPr id="7" name="objective-causality">
            <a:extLst xmlns:a="http://schemas.openxmlformats.org/drawingml/2006/main">
              <a:ext uri="{FF2B5EF4-FFF2-40B4-BE49-F238E27FC236}">
                <a16:creationId xmlns:a16="http://schemas.microsoft.com/office/drawing/2014/main" id="{2EDC8AC0-B25F-41B8-B652-D25A2C4D7B51}"/>
              </a:ext>
            </a:extLst>
          </p:cNvPr>
          <p:cNvSpPr>
            <a:spLocks xmlns:a="http://schemas.openxmlformats.org/drawingml/2006/main" noGrp="1"/>
          </p:cNvSpPr>
          <p:nvPr/>
        </p:nvSpPr>
        <p:spPr>
          <a:xfrm xmlns:a="http://schemas.openxmlformats.org/drawingml/2006/main">
            <a:off x="685800" y="43053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1838A"/>
                </a:solidFill>
                <a:latin typeface="Arial"/>
                <a:ea typeface="Arial"/>
                <a:cs typeface="Arial"/>
              </a:defRPr>
            </a:defPPr>
            <a:lvl1pPr>
              <a:defRPr sz="2175" b="1">
                <a:solidFill>
                  <a:srgbClr val="11838A"/>
                </a:solidFill>
                <a:latin typeface="Arial"/>
                <a:ea typeface="Arial"/>
                <a:cs typeface="Arial"/>
              </a:defRPr>
            </a:lvl1pPr>
            <a:lvl2pPr>
              <a:defRPr sz="2175" b="1">
                <a:solidFill>
                  <a:srgbClr val="11838A"/>
                </a:solidFill>
                <a:latin typeface="Arial"/>
                <a:ea typeface="Arial"/>
                <a:cs typeface="Arial"/>
              </a:defRPr>
            </a:lvl2pPr>
            <a:lvl3pPr>
              <a:defRPr sz="2175" b="1">
                <a:solidFill>
                  <a:srgbClr val="11838A"/>
                </a:solidFill>
                <a:latin typeface="Arial"/>
                <a:ea typeface="Arial"/>
                <a:cs typeface="Arial"/>
              </a:defRPr>
            </a:lvl3pPr>
            <a:lvl4pPr>
              <a:defRPr sz="2175" b="1">
                <a:solidFill>
                  <a:srgbClr val="11838A"/>
                </a:solidFill>
                <a:latin typeface="Arial"/>
                <a:ea typeface="Arial"/>
                <a:cs typeface="Arial"/>
              </a:defRPr>
            </a:lvl4pPr>
            <a:lvl5pPr>
              <a:defRPr sz="2175" b="1">
                <a:solidFill>
                  <a:srgbClr val="11838A"/>
                </a:solidFill>
                <a:latin typeface="Arial"/>
                <a:ea typeface="Arial"/>
                <a:cs typeface="Arial"/>
              </a:defRPr>
            </a:lvl5pPr>
            <a:lvl6pPr>
              <a:defRPr sz="2175" b="1">
                <a:solidFill>
                  <a:srgbClr val="11838A"/>
                </a:solidFill>
                <a:latin typeface="Arial"/>
                <a:ea typeface="Arial"/>
                <a:cs typeface="Arial"/>
              </a:defRPr>
            </a:lvl6pPr>
            <a:lvl7pPr>
              <a:defRPr sz="2175" b="1">
                <a:solidFill>
                  <a:srgbClr val="11838A"/>
                </a:solidFill>
                <a:latin typeface="Arial"/>
                <a:ea typeface="Arial"/>
                <a:cs typeface="Arial"/>
              </a:defRPr>
            </a:lvl7pPr>
            <a:lvl8pPr>
              <a:defRPr sz="2175" b="1">
                <a:solidFill>
                  <a:srgbClr val="11838A"/>
                </a:solidFill>
                <a:latin typeface="Arial"/>
                <a:ea typeface="Arial"/>
                <a:cs typeface="Arial"/>
              </a:defRPr>
            </a:lvl8pPr>
            <a:lvl9pPr>
              <a:defRPr sz="2175" b="1">
                <a:solidFill>
                  <a:srgbClr val="11838A"/>
                </a:solidFill>
                <a:latin typeface="Arial"/>
                <a:ea typeface="Arial"/>
                <a:cs typeface="Arial"/>
              </a:defRPr>
            </a:lvl9pPr>
          </a:lstStyle>
          <a:p xmlns:a="http://schemas.openxmlformats.org/drawingml/2006/main">
            <a:pPr>
              <a:defRPr sz="2175" b="1">
                <a:solidFill>
                  <a:srgbClr val="11838A"/>
                </a:solidFill>
                <a:latin typeface="Arial"/>
                <a:ea typeface="Arial"/>
                <a:cs typeface="Arial"/>
              </a:defRPr>
            </a:pPr>
            <a:r>
              <a:rPr sz="2175" b="1">
                <a:solidFill>
                  <a:srgbClr val="11838A"/>
                </a:solidFill>
                <a:latin typeface="Arial"/>
                <a:ea typeface="Arial"/>
                <a:cs typeface="Arial"/>
              </a:rPr>
              <a:t>Causal windows</a:t>
            </a:r>
          </a:p>
        </p:txBody>
      </p:sp>
      <p:sp>
        <p:nvSpPr>
          <p:cNvPr id="8" name="causality-detail">
            <a:extLst xmlns:a="http://schemas.openxmlformats.org/drawingml/2006/main">
              <a:ext uri="{FF2B5EF4-FFF2-40B4-BE49-F238E27FC236}">
                <a16:creationId xmlns:a16="http://schemas.microsoft.com/office/drawing/2014/main" id="{BEEF2681-DFC4-48B9-8A7A-8EEC0EF2B989}"/>
              </a:ext>
            </a:extLst>
          </p:cNvPr>
          <p:cNvSpPr>
            <a:spLocks xmlns:a="http://schemas.openxmlformats.org/drawingml/2006/main" noGrp="1"/>
          </p:cNvSpPr>
          <p:nvPr/>
        </p:nvSpPr>
        <p:spPr>
          <a:xfrm xmlns:a="http://schemas.openxmlformats.org/drawingml/2006/main">
            <a:off x="685800" y="4838700"/>
            <a:ext cx="466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A window stays inside one instrument and one local session.</a:t>
            </a:r>
          </a:p>
        </p:txBody>
      </p:sp>
      <p:sp>
        <p:nvSpPr>
          <p:cNvPr id="9" name="objective-target">
            <a:extLst xmlns:a="http://schemas.openxmlformats.org/drawingml/2006/main">
              <a:ext uri="{FF2B5EF4-FFF2-40B4-BE49-F238E27FC236}">
                <a16:creationId xmlns:a16="http://schemas.microsoft.com/office/drawing/2014/main" id="{2FF1A022-B04E-4EE0-9C6D-C4DA7C197141}"/>
              </a:ext>
            </a:extLst>
          </p:cNvPr>
          <p:cNvSpPr>
            <a:spLocks xmlns:a="http://schemas.openxmlformats.org/drawingml/2006/main" noGrp="1"/>
          </p:cNvSpPr>
          <p:nvPr/>
        </p:nvSpPr>
        <p:spPr>
          <a:xfrm xmlns:a="http://schemas.openxmlformats.org/drawingml/2006/main">
            <a:off x="6791325" y="43053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1838A"/>
                </a:solidFill>
                <a:latin typeface="Arial"/>
                <a:ea typeface="Arial"/>
                <a:cs typeface="Arial"/>
              </a:defRPr>
            </a:defPPr>
            <a:lvl1pPr>
              <a:defRPr sz="2175" b="1">
                <a:solidFill>
                  <a:srgbClr val="11838A"/>
                </a:solidFill>
                <a:latin typeface="Arial"/>
                <a:ea typeface="Arial"/>
                <a:cs typeface="Arial"/>
              </a:defRPr>
            </a:lvl1pPr>
            <a:lvl2pPr>
              <a:defRPr sz="2175" b="1">
                <a:solidFill>
                  <a:srgbClr val="11838A"/>
                </a:solidFill>
                <a:latin typeface="Arial"/>
                <a:ea typeface="Arial"/>
                <a:cs typeface="Arial"/>
              </a:defRPr>
            </a:lvl2pPr>
            <a:lvl3pPr>
              <a:defRPr sz="2175" b="1">
                <a:solidFill>
                  <a:srgbClr val="11838A"/>
                </a:solidFill>
                <a:latin typeface="Arial"/>
                <a:ea typeface="Arial"/>
                <a:cs typeface="Arial"/>
              </a:defRPr>
            </a:lvl3pPr>
            <a:lvl4pPr>
              <a:defRPr sz="2175" b="1">
                <a:solidFill>
                  <a:srgbClr val="11838A"/>
                </a:solidFill>
                <a:latin typeface="Arial"/>
                <a:ea typeface="Arial"/>
                <a:cs typeface="Arial"/>
              </a:defRPr>
            </a:lvl4pPr>
            <a:lvl5pPr>
              <a:defRPr sz="2175" b="1">
                <a:solidFill>
                  <a:srgbClr val="11838A"/>
                </a:solidFill>
                <a:latin typeface="Arial"/>
                <a:ea typeface="Arial"/>
                <a:cs typeface="Arial"/>
              </a:defRPr>
            </a:lvl5pPr>
            <a:lvl6pPr>
              <a:defRPr sz="2175" b="1">
                <a:solidFill>
                  <a:srgbClr val="11838A"/>
                </a:solidFill>
                <a:latin typeface="Arial"/>
                <a:ea typeface="Arial"/>
                <a:cs typeface="Arial"/>
              </a:defRPr>
            </a:lvl6pPr>
            <a:lvl7pPr>
              <a:defRPr sz="2175" b="1">
                <a:solidFill>
                  <a:srgbClr val="11838A"/>
                </a:solidFill>
                <a:latin typeface="Arial"/>
                <a:ea typeface="Arial"/>
                <a:cs typeface="Arial"/>
              </a:defRPr>
            </a:lvl7pPr>
            <a:lvl8pPr>
              <a:defRPr sz="2175" b="1">
                <a:solidFill>
                  <a:srgbClr val="11838A"/>
                </a:solidFill>
                <a:latin typeface="Arial"/>
                <a:ea typeface="Arial"/>
                <a:cs typeface="Arial"/>
              </a:defRPr>
            </a:lvl8pPr>
            <a:lvl9pPr>
              <a:defRPr sz="2175" b="1">
                <a:solidFill>
                  <a:srgbClr val="11838A"/>
                </a:solidFill>
                <a:latin typeface="Arial"/>
                <a:ea typeface="Arial"/>
                <a:cs typeface="Arial"/>
              </a:defRPr>
            </a:lvl9pPr>
          </a:lstStyle>
          <a:p xmlns:a="http://schemas.openxmlformats.org/drawingml/2006/main">
            <a:pPr>
              <a:defRPr sz="2175" b="1">
                <a:solidFill>
                  <a:srgbClr val="11838A"/>
                </a:solidFill>
                <a:latin typeface="Arial"/>
                <a:ea typeface="Arial"/>
                <a:cs typeface="Arial"/>
              </a:defRPr>
            </a:pPr>
            <a:r>
              <a:rPr sz="2175" b="1">
                <a:solidFill>
                  <a:srgbClr val="11838A"/>
                </a:solidFill>
                <a:latin typeface="Arial"/>
                <a:ea typeface="Arial"/>
                <a:cs typeface="Arial"/>
              </a:rPr>
              <a:t>Training target</a:t>
            </a:r>
          </a:p>
        </p:txBody>
      </p:sp>
      <p:sp>
        <p:nvSpPr>
          <p:cNvPr id="10" name="target-detail">
            <a:extLst xmlns:a="http://schemas.openxmlformats.org/drawingml/2006/main">
              <a:ext uri="{FF2B5EF4-FFF2-40B4-BE49-F238E27FC236}">
                <a16:creationId xmlns:a16="http://schemas.microsoft.com/office/drawing/2014/main" id="{65172191-0ED7-402A-B12B-703996335C19}"/>
              </a:ext>
            </a:extLst>
          </p:cNvPr>
          <p:cNvSpPr>
            <a:spLocks xmlns:a="http://schemas.openxmlformats.org/drawingml/2006/main" noGrp="1"/>
          </p:cNvSpPr>
          <p:nvPr/>
        </p:nvSpPr>
        <p:spPr>
          <a:xfrm xmlns:a="http://schemas.openxmlformats.org/drawingml/2006/main">
            <a:off x="6791325" y="4838700"/>
            <a:ext cx="4619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log1p(shares), standardized using training data only.</a:t>
            </a:r>
          </a:p>
        </p:txBody>
      </p:sp>
    </p:spTree>
    <p:extLst>
      <p:ext uri="{BB962C8B-B14F-4D97-AF65-F5344CB8AC3E}">
        <p14:creationId xmlns:p14="http://schemas.microsoft.com/office/powerpoint/2010/main" val="1354576651"/>
      </p:ext>
    </p:extLst>
  </p:cSld>
</p:sld>
</file>

<file path=ppt/slides/slide3.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FE8F80F9-54AF-45AB-AEC6-F58323D2617D}"/>
              </a:ext>
            </a:extLst>
          </p:cNvPr>
          <p:cNvCxnSpPr>
            <a:stCxn xmlns:a="http://schemas.openxmlformats.org/drawingml/2006/main" id="7" idx="2"/>
            <a:endCxn xmlns:a="http://schemas.openxmlformats.org/drawingml/2006/main" id="11" idx="0"/>
          </p:cNvCxnSpPr>
          <p:nvPr/>
        </p:nvCxnSpPr>
        <p:spPr>
          <a:xfrm xmlns:a="http://schemas.openxmlformats.org/drawingml/2006/main" flipH="1">
            <a:off x="2090738" y="3429000"/>
            <a:ext cx="8072438" cy="952500"/>
          </a:xfrm>
          <a:prstGeom xmlns:a="http://schemas.openxmlformats.org/drawingml/2006/main" prst="bentConnector4">
            <a:avLst>
              <a:gd name="adj1" fmla="val 0"/>
              <a:gd name="adj2" fmla="val 50000"/>
            </a:avLst>
          </a:prstGeom>
          <a:ln xmlns:a="http://schemas.openxmlformats.org/drawingml/2006/main" w="19050">
            <a:solidFill>
              <a:srgbClr val="11838A"/>
            </a:solidFill>
            <a:tailEnd type="triangle" w="med" len="med"/>
          </a:ln>
        </p:spPr>
      </p:cxnSp>
      <p:cxnSp>
        <p:nvCxnSpPr>
          <p:cNvPr id="15" name="">
            <a:extLst xmlns:a="http://schemas.openxmlformats.org/drawingml/2006/main">
              <a:ext uri="{FF2B5EF4-FFF2-40B4-BE49-F238E27FC236}">
                <a16:creationId xmlns:a16="http://schemas.microsoft.com/office/drawing/2014/main" id="{DF79C2A9-D2FA-4848-A2EB-7F660D9C5A38}"/>
              </a:ext>
            </a:extLst>
          </p:cNvPr>
          <p:cNvCxnSpPr>
            <a:stCxn xmlns:a="http://schemas.openxmlformats.org/drawingml/2006/main" id="12" idx="3"/>
            <a:endCxn xmlns:a="http://schemas.openxmlformats.org/drawingml/2006/main" id="13" idx="1"/>
          </p:cNvCxnSpPr>
          <p:nvPr/>
        </p:nvCxnSpPr>
        <p:spPr>
          <a:xfrm xmlns:a="http://schemas.openxmlformats.org/drawingml/2006/main">
            <a:off x="7505700" y="4905375"/>
            <a:ext cx="1200150" cy="0"/>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14" name="">
            <a:extLst xmlns:a="http://schemas.openxmlformats.org/drawingml/2006/main">
              <a:ext uri="{FF2B5EF4-FFF2-40B4-BE49-F238E27FC236}">
                <a16:creationId xmlns:a16="http://schemas.microsoft.com/office/drawing/2014/main" id="{C6ABB8EC-2B8A-44E1-B547-0C5AE53B4EBA}"/>
              </a:ext>
            </a:extLst>
          </p:cNvPr>
          <p:cNvCxnSpPr>
            <a:stCxn xmlns:a="http://schemas.openxmlformats.org/drawingml/2006/main" id="11" idx="3"/>
            <a:endCxn xmlns:a="http://schemas.openxmlformats.org/drawingml/2006/main" id="12" idx="1"/>
          </p:cNvCxnSpPr>
          <p:nvPr/>
        </p:nvCxnSpPr>
        <p:spPr>
          <a:xfrm xmlns:a="http://schemas.openxmlformats.org/drawingml/2006/main">
            <a:off x="3495675" y="4905375"/>
            <a:ext cx="1200150" cy="0"/>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10" name="">
            <a:extLst xmlns:a="http://schemas.openxmlformats.org/drawingml/2006/main">
              <a:ext uri="{FF2B5EF4-FFF2-40B4-BE49-F238E27FC236}">
                <a16:creationId xmlns:a16="http://schemas.microsoft.com/office/drawing/2014/main" id="{172AAF61-9A08-4B71-AD5B-699B77CD97F3}"/>
              </a:ext>
            </a:extLst>
          </p:cNvPr>
          <p:cNvCxnSpPr>
            <a:stCxn xmlns:a="http://schemas.openxmlformats.org/drawingml/2006/main" id="6" idx="3"/>
            <a:endCxn xmlns:a="http://schemas.openxmlformats.org/drawingml/2006/main" id="7" idx="1"/>
          </p:cNvCxnSpPr>
          <p:nvPr/>
        </p:nvCxnSpPr>
        <p:spPr>
          <a:xfrm xmlns:a="http://schemas.openxmlformats.org/drawingml/2006/main">
            <a:off x="8591550" y="2905125"/>
            <a:ext cx="381000" cy="0"/>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9" name="">
            <a:extLst xmlns:a="http://schemas.openxmlformats.org/drawingml/2006/main">
              <a:ext uri="{FF2B5EF4-FFF2-40B4-BE49-F238E27FC236}">
                <a16:creationId xmlns:a16="http://schemas.microsoft.com/office/drawing/2014/main" id="{DD80940D-0AC3-458A-B8FC-B8AC77F4D586}"/>
              </a:ext>
            </a:extLst>
          </p:cNvPr>
          <p:cNvCxnSpPr>
            <a:stCxn xmlns:a="http://schemas.openxmlformats.org/drawingml/2006/main" id="5" idx="3"/>
            <a:endCxn xmlns:a="http://schemas.openxmlformats.org/drawingml/2006/main" id="6" idx="1"/>
          </p:cNvCxnSpPr>
          <p:nvPr/>
        </p:nvCxnSpPr>
        <p:spPr>
          <a:xfrm xmlns:a="http://schemas.openxmlformats.org/drawingml/2006/main">
            <a:off x="5829300" y="2905125"/>
            <a:ext cx="381000" cy="0"/>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8" name="">
            <a:extLst xmlns:a="http://schemas.openxmlformats.org/drawingml/2006/main">
              <a:ext uri="{FF2B5EF4-FFF2-40B4-BE49-F238E27FC236}">
                <a16:creationId xmlns:a16="http://schemas.microsoft.com/office/drawing/2014/main" id="{BC04C1A0-735E-4008-8DF5-A1F8709BDFDB}"/>
              </a:ext>
            </a:extLst>
          </p:cNvPr>
          <p:cNvCxnSpPr>
            <a:stCxn xmlns:a="http://schemas.openxmlformats.org/drawingml/2006/main" id="4" idx="3"/>
            <a:endCxn xmlns:a="http://schemas.openxmlformats.org/drawingml/2006/main" id="5" idx="1"/>
          </p:cNvCxnSpPr>
          <p:nvPr/>
        </p:nvCxnSpPr>
        <p:spPr>
          <a:xfrm xmlns:a="http://schemas.openxmlformats.org/drawingml/2006/main">
            <a:off x="3067050" y="2905125"/>
            <a:ext cx="381000" cy="0"/>
          </a:xfrm>
          <a:prstGeom xmlns:a="http://schemas.openxmlformats.org/drawingml/2006/main" prst="straightConnector1">
            <a:avLst/>
          </a:prstGeom>
          <a:ln xmlns:a="http://schemas.openxmlformats.org/drawingml/2006/main" w="19050">
            <a:solidFill>
              <a:srgbClr val="11838A"/>
            </a:solidFill>
            <a:tailEnd type="triangle" w="med" len="med"/>
          </a:ln>
        </p:spPr>
      </p:cxnSp>
      <p:sp>
        <p:nvSpPr>
          <p:cNvPr id="18" name="slide-title">
            <a:extLst xmlns:a="http://schemas.openxmlformats.org/drawingml/2006/main">
              <a:ext uri="{FF2B5EF4-FFF2-40B4-BE49-F238E27FC236}">
                <a16:creationId xmlns:a16="http://schemas.microsoft.com/office/drawing/2014/main" id="{92E7EA7B-321D-44B9-B569-5A5AF31577E9}"/>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Project architecture</a:t>
            </a:r>
          </a:p>
        </p:txBody>
      </p:sp>
      <p:sp>
        <p:nvSpPr>
          <p:cNvPr id="2" name="page-number">
            <a:extLst xmlns:a="http://schemas.openxmlformats.org/drawingml/2006/main">
              <a:ext uri="{FF2B5EF4-FFF2-40B4-BE49-F238E27FC236}">
                <a16:creationId xmlns:a16="http://schemas.microsoft.com/office/drawing/2014/main" id="{7CE7A354-CD62-4856-8A4F-D482B0963E40}"/>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03</a:t>
            </a:r>
          </a:p>
        </p:txBody>
      </p:sp>
      <p:sp>
        <p:nvSpPr>
          <p:cNvPr id="3" name="architecture-subtitle">
            <a:extLst xmlns:a="http://schemas.openxmlformats.org/drawingml/2006/main">
              <a:ext uri="{FF2B5EF4-FFF2-40B4-BE49-F238E27FC236}">
                <a16:creationId xmlns:a16="http://schemas.microsoft.com/office/drawing/2014/main" id="{339D29A0-78C8-485B-BFF1-83787C5BEEC8}"/>
              </a:ext>
            </a:extLst>
          </p:cNvPr>
          <p:cNvSpPr>
            <a:spLocks xmlns:a="http://schemas.openxmlformats.org/drawingml/2006/main" noGrp="1"/>
          </p:cNvSpPr>
          <p:nvPr/>
        </p:nvSpPr>
        <p:spPr>
          <a:xfrm xmlns:a="http://schemas.openxmlformats.org/drawingml/2006/main">
            <a:off x="685800" y="13620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83340"/>
                </a:solidFill>
                <a:latin typeface="Arial"/>
                <a:ea typeface="Arial"/>
                <a:cs typeface="Arial"/>
              </a:defRPr>
            </a:defPPr>
            <a:lvl1pPr>
              <a:defRPr sz="2175">
                <a:solidFill>
                  <a:srgbClr val="183340"/>
                </a:solidFill>
                <a:latin typeface="Arial"/>
                <a:ea typeface="Arial"/>
                <a:cs typeface="Arial"/>
              </a:defRPr>
            </a:lvl1pPr>
            <a:lvl2pPr>
              <a:defRPr sz="2175">
                <a:solidFill>
                  <a:srgbClr val="183340"/>
                </a:solidFill>
                <a:latin typeface="Arial"/>
                <a:ea typeface="Arial"/>
                <a:cs typeface="Arial"/>
              </a:defRPr>
            </a:lvl2pPr>
            <a:lvl3pPr>
              <a:defRPr sz="2175">
                <a:solidFill>
                  <a:srgbClr val="183340"/>
                </a:solidFill>
                <a:latin typeface="Arial"/>
                <a:ea typeface="Arial"/>
                <a:cs typeface="Arial"/>
              </a:defRPr>
            </a:lvl3pPr>
            <a:lvl4pPr>
              <a:defRPr sz="2175">
                <a:solidFill>
                  <a:srgbClr val="183340"/>
                </a:solidFill>
                <a:latin typeface="Arial"/>
                <a:ea typeface="Arial"/>
                <a:cs typeface="Arial"/>
              </a:defRPr>
            </a:lvl4pPr>
            <a:lvl5pPr>
              <a:defRPr sz="2175">
                <a:solidFill>
                  <a:srgbClr val="183340"/>
                </a:solidFill>
                <a:latin typeface="Arial"/>
                <a:ea typeface="Arial"/>
                <a:cs typeface="Arial"/>
              </a:defRPr>
            </a:lvl5pPr>
            <a:lvl6pPr>
              <a:defRPr sz="2175">
                <a:solidFill>
                  <a:srgbClr val="183340"/>
                </a:solidFill>
                <a:latin typeface="Arial"/>
                <a:ea typeface="Arial"/>
                <a:cs typeface="Arial"/>
              </a:defRPr>
            </a:lvl6pPr>
            <a:lvl7pPr>
              <a:defRPr sz="2175">
                <a:solidFill>
                  <a:srgbClr val="183340"/>
                </a:solidFill>
                <a:latin typeface="Arial"/>
                <a:ea typeface="Arial"/>
                <a:cs typeface="Arial"/>
              </a:defRPr>
            </a:lvl7pPr>
            <a:lvl8pPr>
              <a:defRPr sz="2175">
                <a:solidFill>
                  <a:srgbClr val="183340"/>
                </a:solidFill>
                <a:latin typeface="Arial"/>
                <a:ea typeface="Arial"/>
                <a:cs typeface="Arial"/>
              </a:defRPr>
            </a:lvl8pPr>
            <a:lvl9pPr>
              <a:defRPr sz="2175">
                <a:solidFill>
                  <a:srgbClr val="183340"/>
                </a:solidFill>
                <a:latin typeface="Arial"/>
                <a:ea typeface="Arial"/>
                <a:cs typeface="Arial"/>
              </a:defRPr>
            </a:lvl9pPr>
          </a:lstStyle>
          <a:p xmlns:a="http://schemas.openxmlformats.org/drawingml/2006/main">
            <a:pPr>
              <a:defRPr sz="2175">
                <a:solidFill>
                  <a:srgbClr val="183340"/>
                </a:solidFill>
                <a:latin typeface="Arial"/>
                <a:ea typeface="Arial"/>
                <a:cs typeface="Arial"/>
              </a:defRPr>
            </a:pPr>
            <a:r>
              <a:rPr sz="2175">
                <a:solidFill>
                  <a:srgbClr val="183340"/>
                </a:solidFill>
                <a:latin typeface="Arial"/>
                <a:ea typeface="Arial"/>
                <a:cs typeface="Arial"/>
              </a:rPr>
              <a:t>One shared Python module supports the notebook and command line.</a:t>
            </a:r>
          </a:p>
        </p:txBody>
      </p:sp>
      <p:sp>
        <p:nvSpPr>
          <p:cNvPr id="4" name="Tick files JSON lines">
            <a:extLst xmlns:a="http://schemas.openxmlformats.org/drawingml/2006/main">
              <a:ext uri="{FF2B5EF4-FFF2-40B4-BE49-F238E27FC236}">
                <a16:creationId xmlns:a16="http://schemas.microsoft.com/office/drawing/2014/main" id="{1C1C9332-9084-4D95-AACC-58AF001D14BC}"/>
              </a:ext>
            </a:extLst>
          </p:cNvPr>
          <p:cNvSpPr>
            <a:spLocks xmlns:a="http://schemas.openxmlformats.org/drawingml/2006/main" noGrp="1"/>
          </p:cNvSpPr>
          <p:nvPr/>
        </p:nvSpPr>
        <p:spPr>
          <a:xfrm xmlns:a="http://schemas.openxmlformats.org/drawingml/2006/main">
            <a:off x="685800" y="2381250"/>
            <a:ext cx="2381250" cy="10477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Tick files</a:t>
            </a:r>
          </a:p>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JSON lines</a:t>
            </a:r>
          </a:p>
        </p:txBody>
      </p:sp>
      <p:sp>
        <p:nvSpPr>
          <p:cNvPr id="5" name="Validate and combine">
            <a:extLst xmlns:a="http://schemas.openxmlformats.org/drawingml/2006/main">
              <a:ext uri="{FF2B5EF4-FFF2-40B4-BE49-F238E27FC236}">
                <a16:creationId xmlns:a16="http://schemas.microsoft.com/office/drawing/2014/main" id="{CA997A53-C561-4BCA-ADBA-8222FB153370}"/>
              </a:ext>
            </a:extLst>
          </p:cNvPr>
          <p:cNvSpPr>
            <a:spLocks xmlns:a="http://schemas.openxmlformats.org/drawingml/2006/main" noGrp="1"/>
          </p:cNvSpPr>
          <p:nvPr/>
        </p:nvSpPr>
        <p:spPr>
          <a:xfrm xmlns:a="http://schemas.openxmlformats.org/drawingml/2006/main">
            <a:off x="3448050" y="2381250"/>
            <a:ext cx="2381250" cy="10477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Validate</a:t>
            </a:r>
          </a:p>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and combine</a:t>
            </a:r>
          </a:p>
        </p:txBody>
      </p:sp>
      <p:sp>
        <p:nvSpPr>
          <p:cNvPr id="6" name="Recover minute volume">
            <a:extLst xmlns:a="http://schemas.openxmlformats.org/drawingml/2006/main">
              <a:ext uri="{FF2B5EF4-FFF2-40B4-BE49-F238E27FC236}">
                <a16:creationId xmlns:a16="http://schemas.microsoft.com/office/drawing/2014/main" id="{420AF07B-AF0C-4B86-AAD3-ACDBE2F4E6ED}"/>
              </a:ext>
            </a:extLst>
          </p:cNvPr>
          <p:cNvSpPr>
            <a:spLocks xmlns:a="http://schemas.openxmlformats.org/drawingml/2006/main" noGrp="1"/>
          </p:cNvSpPr>
          <p:nvPr/>
        </p:nvSpPr>
        <p:spPr>
          <a:xfrm xmlns:a="http://schemas.openxmlformats.org/drawingml/2006/main">
            <a:off x="6210300" y="2381250"/>
            <a:ext cx="2381250" cy="10477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Recover</a:t>
            </a:r>
          </a:p>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minute volume</a:t>
            </a:r>
          </a:p>
        </p:txBody>
      </p:sp>
      <p:sp>
        <p:nvSpPr>
          <p:cNvPr id="7" name="Build causal windows">
            <a:extLst xmlns:a="http://schemas.openxmlformats.org/drawingml/2006/main">
              <a:ext uri="{FF2B5EF4-FFF2-40B4-BE49-F238E27FC236}">
                <a16:creationId xmlns:a16="http://schemas.microsoft.com/office/drawing/2014/main" id="{56432325-8CB7-410E-B15C-6FD9544FCAFE}"/>
              </a:ext>
            </a:extLst>
          </p:cNvPr>
          <p:cNvSpPr>
            <a:spLocks xmlns:a="http://schemas.openxmlformats.org/drawingml/2006/main" noGrp="1"/>
          </p:cNvSpPr>
          <p:nvPr/>
        </p:nvSpPr>
        <p:spPr>
          <a:xfrm xmlns:a="http://schemas.openxmlformats.org/drawingml/2006/main">
            <a:off x="8972550" y="2381250"/>
            <a:ext cx="2381250" cy="10477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Build causal</a:t>
            </a:r>
          </a:p>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windows</a:t>
            </a:r>
          </a:p>
        </p:txBody>
      </p:sp>
      <p:sp>
        <p:nvSpPr>
          <p:cNvPr id="11" name="Split dates and fit scalers">
            <a:extLst xmlns:a="http://schemas.openxmlformats.org/drawingml/2006/main">
              <a:ext uri="{FF2B5EF4-FFF2-40B4-BE49-F238E27FC236}">
                <a16:creationId xmlns:a16="http://schemas.microsoft.com/office/drawing/2014/main" id="{418AD1E0-BCE7-4AF5-8FEF-3AD73D2B7E27}"/>
              </a:ext>
            </a:extLst>
          </p:cNvPr>
          <p:cNvSpPr>
            <a:spLocks xmlns:a="http://schemas.openxmlformats.org/drawingml/2006/main" noGrp="1"/>
          </p:cNvSpPr>
          <p:nvPr/>
        </p:nvSpPr>
        <p:spPr>
          <a:xfrm xmlns:a="http://schemas.openxmlformats.org/drawingml/2006/main">
            <a:off x="685800" y="4381500"/>
            <a:ext cx="2809875" cy="10477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Split dates</a:t>
            </a:r>
          </a:p>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and fit scalers</a:t>
            </a:r>
          </a:p>
        </p:txBody>
      </p:sp>
      <p:sp>
        <p:nvSpPr>
          <p:cNvPr id="12" name="Train CNN and evaluate">
            <a:extLst xmlns:a="http://schemas.openxmlformats.org/drawingml/2006/main">
              <a:ext uri="{FF2B5EF4-FFF2-40B4-BE49-F238E27FC236}">
                <a16:creationId xmlns:a16="http://schemas.microsoft.com/office/drawing/2014/main" id="{B81B2C32-0CF3-420D-B672-23F43D8C5C40}"/>
              </a:ext>
            </a:extLst>
          </p:cNvPr>
          <p:cNvSpPr>
            <a:spLocks xmlns:a="http://schemas.openxmlformats.org/drawingml/2006/main" noGrp="1"/>
          </p:cNvSpPr>
          <p:nvPr/>
        </p:nvSpPr>
        <p:spPr>
          <a:xfrm xmlns:a="http://schemas.openxmlformats.org/drawingml/2006/main">
            <a:off x="4695825" y="4381500"/>
            <a:ext cx="2809875" cy="10477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Train CNN</a:t>
            </a:r>
          </a:p>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and evaluate</a:t>
            </a:r>
          </a:p>
        </p:txBody>
      </p:sp>
      <p:sp>
        <p:nvSpPr>
          <p:cNvPr id="13" name="Save artifacts and export report">
            <a:extLst xmlns:a="http://schemas.openxmlformats.org/drawingml/2006/main">
              <a:ext uri="{FF2B5EF4-FFF2-40B4-BE49-F238E27FC236}">
                <a16:creationId xmlns:a16="http://schemas.microsoft.com/office/drawing/2014/main" id="{321FC792-3AEC-4C47-8E09-E1C5889AE5A4}"/>
              </a:ext>
            </a:extLst>
          </p:cNvPr>
          <p:cNvSpPr>
            <a:spLocks xmlns:a="http://schemas.openxmlformats.org/drawingml/2006/main" noGrp="1"/>
          </p:cNvSpPr>
          <p:nvPr/>
        </p:nvSpPr>
        <p:spPr>
          <a:xfrm xmlns:a="http://schemas.openxmlformats.org/drawingml/2006/main">
            <a:off x="8705850" y="4381500"/>
            <a:ext cx="2800350" cy="1047750"/>
          </a:xfrm>
          <a:prstGeom xmlns:a="http://schemas.openxmlformats.org/drawingml/2006/main" prst="rect">
            <a:avLst/>
          </a:prstGeom>
          <a:solidFill xmlns:a="http://schemas.openxmlformats.org/drawingml/2006/main">
            <a:srgbClr val="17323F"/>
          </a:solidFill>
          <a:ln xmlns:a="http://schemas.openxmlformats.org/drawingml/2006/main" w="14288">
            <a:solidFill>
              <a:srgbClr val="17323F"/>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Save artifacts</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and export report</a:t>
            </a:r>
          </a:p>
        </p:txBody>
      </p:sp>
      <p:sp>
        <p:nvSpPr>
          <p:cNvPr id="17" name="architecture-flow-note">
            <a:extLst xmlns:a="http://schemas.openxmlformats.org/drawingml/2006/main">
              <a:ext uri="{FF2B5EF4-FFF2-40B4-BE49-F238E27FC236}">
                <a16:creationId xmlns:a16="http://schemas.microsoft.com/office/drawing/2014/main" id="{2119C618-3684-44DB-BB49-E8AFB2A34F19}"/>
              </a:ext>
            </a:extLst>
          </p:cNvPr>
          <p:cNvSpPr>
            <a:spLocks xmlns:a="http://schemas.openxmlformats.org/drawingml/2006/main" noGrp="1"/>
          </p:cNvSpPr>
          <p:nvPr/>
        </p:nvSpPr>
        <p:spPr>
          <a:xfrm xmlns:a="http://schemas.openxmlformats.org/drawingml/2006/main">
            <a:off x="685800" y="57531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526875"/>
                </a:solidFill>
                <a:latin typeface="Arial"/>
                <a:ea typeface="Arial"/>
                <a:cs typeface="Arial"/>
              </a:defRPr>
            </a:defPPr>
            <a:lvl1pPr>
              <a:defRPr sz="1725">
                <a:solidFill>
                  <a:srgbClr val="526875"/>
                </a:solidFill>
                <a:latin typeface="Arial"/>
                <a:ea typeface="Arial"/>
                <a:cs typeface="Arial"/>
              </a:defRPr>
            </a:lvl1pPr>
            <a:lvl2pPr>
              <a:defRPr sz="1725">
                <a:solidFill>
                  <a:srgbClr val="526875"/>
                </a:solidFill>
                <a:latin typeface="Arial"/>
                <a:ea typeface="Arial"/>
                <a:cs typeface="Arial"/>
              </a:defRPr>
            </a:lvl2pPr>
            <a:lvl3pPr>
              <a:defRPr sz="1725">
                <a:solidFill>
                  <a:srgbClr val="526875"/>
                </a:solidFill>
                <a:latin typeface="Arial"/>
                <a:ea typeface="Arial"/>
                <a:cs typeface="Arial"/>
              </a:defRPr>
            </a:lvl3pPr>
            <a:lvl4pPr>
              <a:defRPr sz="1725">
                <a:solidFill>
                  <a:srgbClr val="526875"/>
                </a:solidFill>
                <a:latin typeface="Arial"/>
                <a:ea typeface="Arial"/>
                <a:cs typeface="Arial"/>
              </a:defRPr>
            </a:lvl4pPr>
            <a:lvl5pPr>
              <a:defRPr sz="1725">
                <a:solidFill>
                  <a:srgbClr val="526875"/>
                </a:solidFill>
                <a:latin typeface="Arial"/>
                <a:ea typeface="Arial"/>
                <a:cs typeface="Arial"/>
              </a:defRPr>
            </a:lvl5pPr>
            <a:lvl6pPr>
              <a:defRPr sz="1725">
                <a:solidFill>
                  <a:srgbClr val="526875"/>
                </a:solidFill>
                <a:latin typeface="Arial"/>
                <a:ea typeface="Arial"/>
                <a:cs typeface="Arial"/>
              </a:defRPr>
            </a:lvl6pPr>
            <a:lvl7pPr>
              <a:defRPr sz="1725">
                <a:solidFill>
                  <a:srgbClr val="526875"/>
                </a:solidFill>
                <a:latin typeface="Arial"/>
                <a:ea typeface="Arial"/>
                <a:cs typeface="Arial"/>
              </a:defRPr>
            </a:lvl7pPr>
            <a:lvl8pPr>
              <a:defRPr sz="1725">
                <a:solidFill>
                  <a:srgbClr val="526875"/>
                </a:solidFill>
                <a:latin typeface="Arial"/>
                <a:ea typeface="Arial"/>
                <a:cs typeface="Arial"/>
              </a:defRPr>
            </a:lvl8pPr>
            <a:lvl9pPr>
              <a:defRPr sz="1725">
                <a:solidFill>
                  <a:srgbClr val="526875"/>
                </a:solidFill>
                <a:latin typeface="Arial"/>
                <a:ea typeface="Arial"/>
                <a:cs typeface="Arial"/>
              </a:defRPr>
            </a:lvl9pPr>
          </a:lstStyle>
          <a:p xmlns:a="http://schemas.openxmlformats.org/drawingml/2006/main">
            <a:pPr>
              <a:defRPr sz="1725">
                <a:solidFill>
                  <a:srgbClr val="526875"/>
                </a:solidFill>
                <a:latin typeface="Arial"/>
                <a:ea typeface="Arial"/>
                <a:cs typeface="Arial"/>
              </a:defRPr>
            </a:pPr>
            <a:r>
              <a:rPr sz="1725">
                <a:solidFill>
                  <a:srgbClr val="526875"/>
                </a:solidFill>
                <a:latin typeface="Arial"/>
                <a:ea typeface="Arial"/>
                <a:cs typeface="Arial"/>
              </a:rPr>
              <a:t>Python / TensorFlow / pandas / scikit-learn / Matplotlib / Jupyter / pytest / Ruff</a:t>
            </a:r>
          </a:p>
        </p:txBody>
      </p:sp>
    </p:spTree>
    <p:extLst>
      <p:ext uri="{BB962C8B-B14F-4D97-AF65-F5344CB8AC3E}">
        <p14:creationId xmlns:p14="http://schemas.microsoft.com/office/powerpoint/2010/main" val="516347634"/>
      </p:ext>
    </p:extLst>
  </p:cSld>
</p:sld>
</file>

<file path=ppt/slides/slide4.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F94AEEE-7047-4F80-9562-627C699117BC}"/>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Dataset and chronological evaluation</a:t>
            </a:r>
          </a:p>
        </p:txBody>
      </p:sp>
      <p:sp>
        <p:nvSpPr>
          <p:cNvPr id="2" name="page-number">
            <a:extLst xmlns:a="http://schemas.openxmlformats.org/drawingml/2006/main">
              <a:ext uri="{FF2B5EF4-FFF2-40B4-BE49-F238E27FC236}">
                <a16:creationId xmlns:a16="http://schemas.microsoft.com/office/drawing/2014/main" id="{CE732E93-B39A-435A-87CB-BE19F58B9A47}"/>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04</a:t>
            </a:r>
          </a:p>
        </p:txBody>
      </p:sp>
      <p:sp>
        <p:nvSpPr>
          <p:cNvPr id="3" name="sample-disclosure">
            <a:extLst xmlns:a="http://schemas.openxmlformats.org/drawingml/2006/main">
              <a:ext uri="{FF2B5EF4-FFF2-40B4-BE49-F238E27FC236}">
                <a16:creationId xmlns:a16="http://schemas.microsoft.com/office/drawing/2014/main" id="{128D2C8C-9E0B-48BB-BBCD-CBF4A3166932}"/>
              </a:ext>
            </a:extLst>
          </p:cNvPr>
          <p:cNvSpPr>
            <a:spLocks xmlns:a="http://schemas.openxmlformats.org/drawingml/2006/main" noGrp="1"/>
          </p:cNvSpPr>
          <p:nvPr/>
        </p:nvSpPr>
        <p:spPr>
          <a:xfrm xmlns:a="http://schemas.openxmlformats.org/drawingml/2006/main">
            <a:off x="685800" y="1362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83340"/>
                </a:solidFill>
                <a:latin typeface="Arial"/>
                <a:ea typeface="Arial"/>
                <a:cs typeface="Arial"/>
              </a:defRPr>
            </a:defPPr>
            <a:lvl1pPr>
              <a:defRPr sz="2175">
                <a:solidFill>
                  <a:srgbClr val="183340"/>
                </a:solidFill>
                <a:latin typeface="Arial"/>
                <a:ea typeface="Arial"/>
                <a:cs typeface="Arial"/>
              </a:defRPr>
            </a:lvl1pPr>
            <a:lvl2pPr>
              <a:defRPr sz="2175">
                <a:solidFill>
                  <a:srgbClr val="183340"/>
                </a:solidFill>
                <a:latin typeface="Arial"/>
                <a:ea typeface="Arial"/>
                <a:cs typeface="Arial"/>
              </a:defRPr>
            </a:lvl2pPr>
            <a:lvl3pPr>
              <a:defRPr sz="2175">
                <a:solidFill>
                  <a:srgbClr val="183340"/>
                </a:solidFill>
                <a:latin typeface="Arial"/>
                <a:ea typeface="Arial"/>
                <a:cs typeface="Arial"/>
              </a:defRPr>
            </a:lvl3pPr>
            <a:lvl4pPr>
              <a:defRPr sz="2175">
                <a:solidFill>
                  <a:srgbClr val="183340"/>
                </a:solidFill>
                <a:latin typeface="Arial"/>
                <a:ea typeface="Arial"/>
                <a:cs typeface="Arial"/>
              </a:defRPr>
            </a:lvl4pPr>
            <a:lvl5pPr>
              <a:defRPr sz="2175">
                <a:solidFill>
                  <a:srgbClr val="183340"/>
                </a:solidFill>
                <a:latin typeface="Arial"/>
                <a:ea typeface="Arial"/>
                <a:cs typeface="Arial"/>
              </a:defRPr>
            </a:lvl5pPr>
            <a:lvl6pPr>
              <a:defRPr sz="2175">
                <a:solidFill>
                  <a:srgbClr val="183340"/>
                </a:solidFill>
                <a:latin typeface="Arial"/>
                <a:ea typeface="Arial"/>
                <a:cs typeface="Arial"/>
              </a:defRPr>
            </a:lvl6pPr>
            <a:lvl7pPr>
              <a:defRPr sz="2175">
                <a:solidFill>
                  <a:srgbClr val="183340"/>
                </a:solidFill>
                <a:latin typeface="Arial"/>
                <a:ea typeface="Arial"/>
                <a:cs typeface="Arial"/>
              </a:defRPr>
            </a:lvl7pPr>
            <a:lvl8pPr>
              <a:defRPr sz="2175">
                <a:solidFill>
                  <a:srgbClr val="183340"/>
                </a:solidFill>
                <a:latin typeface="Arial"/>
                <a:ea typeface="Arial"/>
                <a:cs typeface="Arial"/>
              </a:defRPr>
            </a:lvl8pPr>
            <a:lvl9pPr>
              <a:defRPr sz="2175">
                <a:solidFill>
                  <a:srgbClr val="183340"/>
                </a:solidFill>
                <a:latin typeface="Arial"/>
                <a:ea typeface="Arial"/>
                <a:cs typeface="Arial"/>
              </a:defRPr>
            </a:lvl9pPr>
          </a:lstStyle>
          <a:p xmlns:a="http://schemas.openxmlformats.org/drawingml/2006/main">
            <a:pPr>
              <a:defRPr sz="2175">
                <a:solidFill>
                  <a:srgbClr val="183340"/>
                </a:solidFill>
                <a:latin typeface="Arial"/>
                <a:ea typeface="Arial"/>
                <a:cs typeface="Arial"/>
              </a:defRPr>
            </a:pPr>
            <a:r>
              <a:rPr sz="2175">
                <a:solidFill>
                  <a:srgbClr val="183340"/>
                </a:solidFill>
                <a:latin typeface="Arial"/>
                <a:ea typeface="Arial"/>
                <a:cs typeface="Arial"/>
              </a:rPr>
              <a:t>Synthetic data: ALPHA and BETA across eight short sessions.</a:t>
            </a:r>
          </a:p>
        </p:txBody>
      </p:sp>
      <p:sp>
        <p:nvSpPr>
          <p:cNvPr id="4" name="sample-number-0">
            <a:extLst xmlns:a="http://schemas.openxmlformats.org/drawingml/2006/main">
              <a:ext uri="{FF2B5EF4-FFF2-40B4-BE49-F238E27FC236}">
                <a16:creationId xmlns:a16="http://schemas.microsoft.com/office/drawing/2014/main" id="{A05F513C-1A8F-408B-970A-B14896F7694E}"/>
              </a:ext>
            </a:extLst>
          </p:cNvPr>
          <p:cNvSpPr>
            <a:spLocks xmlns:a="http://schemas.openxmlformats.org/drawingml/2006/main" noGrp="1"/>
          </p:cNvSpPr>
          <p:nvPr/>
        </p:nvSpPr>
        <p:spPr>
          <a:xfrm xmlns:a="http://schemas.openxmlformats.org/drawingml/2006/main">
            <a:off x="685800" y="211455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11838A"/>
                </a:solidFill>
                <a:latin typeface="Arial"/>
                <a:ea typeface="Arial"/>
                <a:cs typeface="Arial"/>
              </a:defRPr>
            </a:defPPr>
            <a:lvl1pPr>
              <a:defRPr sz="4125" b="1">
                <a:solidFill>
                  <a:srgbClr val="11838A"/>
                </a:solidFill>
                <a:latin typeface="Arial"/>
                <a:ea typeface="Arial"/>
                <a:cs typeface="Arial"/>
              </a:defRPr>
            </a:lvl1pPr>
            <a:lvl2pPr>
              <a:defRPr sz="4125" b="1">
                <a:solidFill>
                  <a:srgbClr val="11838A"/>
                </a:solidFill>
                <a:latin typeface="Arial"/>
                <a:ea typeface="Arial"/>
                <a:cs typeface="Arial"/>
              </a:defRPr>
            </a:lvl2pPr>
            <a:lvl3pPr>
              <a:defRPr sz="4125" b="1">
                <a:solidFill>
                  <a:srgbClr val="11838A"/>
                </a:solidFill>
                <a:latin typeface="Arial"/>
                <a:ea typeface="Arial"/>
                <a:cs typeface="Arial"/>
              </a:defRPr>
            </a:lvl3pPr>
            <a:lvl4pPr>
              <a:defRPr sz="4125" b="1">
                <a:solidFill>
                  <a:srgbClr val="11838A"/>
                </a:solidFill>
                <a:latin typeface="Arial"/>
                <a:ea typeface="Arial"/>
                <a:cs typeface="Arial"/>
              </a:defRPr>
            </a:lvl4pPr>
            <a:lvl5pPr>
              <a:defRPr sz="4125" b="1">
                <a:solidFill>
                  <a:srgbClr val="11838A"/>
                </a:solidFill>
                <a:latin typeface="Arial"/>
                <a:ea typeface="Arial"/>
                <a:cs typeface="Arial"/>
              </a:defRPr>
            </a:lvl5pPr>
            <a:lvl6pPr>
              <a:defRPr sz="4125" b="1">
                <a:solidFill>
                  <a:srgbClr val="11838A"/>
                </a:solidFill>
                <a:latin typeface="Arial"/>
                <a:ea typeface="Arial"/>
                <a:cs typeface="Arial"/>
              </a:defRPr>
            </a:lvl6pPr>
            <a:lvl7pPr>
              <a:defRPr sz="4125" b="1">
                <a:solidFill>
                  <a:srgbClr val="11838A"/>
                </a:solidFill>
                <a:latin typeface="Arial"/>
                <a:ea typeface="Arial"/>
                <a:cs typeface="Arial"/>
              </a:defRPr>
            </a:lvl7pPr>
            <a:lvl8pPr>
              <a:defRPr sz="4125" b="1">
                <a:solidFill>
                  <a:srgbClr val="11838A"/>
                </a:solidFill>
                <a:latin typeface="Arial"/>
                <a:ea typeface="Arial"/>
                <a:cs typeface="Arial"/>
              </a:defRPr>
            </a:lvl8pPr>
            <a:lvl9pPr>
              <a:defRPr sz="4125" b="1">
                <a:solidFill>
                  <a:srgbClr val="11838A"/>
                </a:solidFill>
                <a:latin typeface="Arial"/>
                <a:ea typeface="Arial"/>
                <a:cs typeface="Arial"/>
              </a:defRPr>
            </a:lvl9pPr>
          </a:lstStyle>
          <a:p xmlns:a="http://schemas.openxmlformats.org/drawingml/2006/main">
            <a:pPr>
              <a:defRPr sz="4125" b="1">
                <a:solidFill>
                  <a:srgbClr val="11838A"/>
                </a:solidFill>
                <a:latin typeface="Arial"/>
                <a:ea typeface="Arial"/>
                <a:cs typeface="Arial"/>
              </a:defRPr>
            </a:pPr>
            <a:r>
              <a:rPr sz="4125" b="1">
                <a:solidFill>
                  <a:srgbClr val="11838A"/>
                </a:solidFill>
                <a:latin typeface="Arial"/>
                <a:ea typeface="Arial"/>
                <a:cs typeface="Arial"/>
              </a:rPr>
              <a:t>1,936</a:t>
            </a:r>
          </a:p>
        </p:txBody>
      </p:sp>
      <p:sp>
        <p:nvSpPr>
          <p:cNvPr id="5" name="sample-label-0">
            <a:extLst xmlns:a="http://schemas.openxmlformats.org/drawingml/2006/main">
              <a:ext uri="{FF2B5EF4-FFF2-40B4-BE49-F238E27FC236}">
                <a16:creationId xmlns:a16="http://schemas.microsoft.com/office/drawing/2014/main" id="{40B89AB9-E470-4EE2-A979-354FD44B5A6B}"/>
              </a:ext>
            </a:extLst>
          </p:cNvPr>
          <p:cNvSpPr>
            <a:spLocks xmlns:a="http://schemas.openxmlformats.org/drawingml/2006/main" noGrp="1"/>
          </p:cNvSpPr>
          <p:nvPr/>
        </p:nvSpPr>
        <p:spPr>
          <a:xfrm xmlns:a="http://schemas.openxmlformats.org/drawingml/2006/main">
            <a:off x="685800" y="28098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83340"/>
                </a:solidFill>
                <a:latin typeface="Arial"/>
                <a:ea typeface="Arial"/>
                <a:cs typeface="Arial"/>
              </a:defRPr>
            </a:defPPr>
            <a:lvl1pPr>
              <a:defRPr sz="1875">
                <a:solidFill>
                  <a:srgbClr val="183340"/>
                </a:solidFill>
                <a:latin typeface="Arial"/>
                <a:ea typeface="Arial"/>
                <a:cs typeface="Arial"/>
              </a:defRPr>
            </a:lvl1pPr>
            <a:lvl2pPr>
              <a:defRPr sz="1875">
                <a:solidFill>
                  <a:srgbClr val="183340"/>
                </a:solidFill>
                <a:latin typeface="Arial"/>
                <a:ea typeface="Arial"/>
                <a:cs typeface="Arial"/>
              </a:defRPr>
            </a:lvl2pPr>
            <a:lvl3pPr>
              <a:defRPr sz="1875">
                <a:solidFill>
                  <a:srgbClr val="183340"/>
                </a:solidFill>
                <a:latin typeface="Arial"/>
                <a:ea typeface="Arial"/>
                <a:cs typeface="Arial"/>
              </a:defRPr>
            </a:lvl3pPr>
            <a:lvl4pPr>
              <a:defRPr sz="1875">
                <a:solidFill>
                  <a:srgbClr val="183340"/>
                </a:solidFill>
                <a:latin typeface="Arial"/>
                <a:ea typeface="Arial"/>
                <a:cs typeface="Arial"/>
              </a:defRPr>
            </a:lvl4pPr>
            <a:lvl5pPr>
              <a:defRPr sz="1875">
                <a:solidFill>
                  <a:srgbClr val="183340"/>
                </a:solidFill>
                <a:latin typeface="Arial"/>
                <a:ea typeface="Arial"/>
                <a:cs typeface="Arial"/>
              </a:defRPr>
            </a:lvl5pPr>
            <a:lvl6pPr>
              <a:defRPr sz="1875">
                <a:solidFill>
                  <a:srgbClr val="183340"/>
                </a:solidFill>
                <a:latin typeface="Arial"/>
                <a:ea typeface="Arial"/>
                <a:cs typeface="Arial"/>
              </a:defRPr>
            </a:lvl6pPr>
            <a:lvl7pPr>
              <a:defRPr sz="1875">
                <a:solidFill>
                  <a:srgbClr val="183340"/>
                </a:solidFill>
                <a:latin typeface="Arial"/>
                <a:ea typeface="Arial"/>
                <a:cs typeface="Arial"/>
              </a:defRPr>
            </a:lvl7pPr>
            <a:lvl8pPr>
              <a:defRPr sz="1875">
                <a:solidFill>
                  <a:srgbClr val="183340"/>
                </a:solidFill>
                <a:latin typeface="Arial"/>
                <a:ea typeface="Arial"/>
                <a:cs typeface="Arial"/>
              </a:defRPr>
            </a:lvl8pPr>
            <a:lvl9pPr>
              <a:defRPr sz="1875">
                <a:solidFill>
                  <a:srgbClr val="183340"/>
                </a:solidFill>
                <a:latin typeface="Arial"/>
                <a:ea typeface="Arial"/>
                <a:cs typeface="Arial"/>
              </a:defRPr>
            </a:lvl9pPr>
          </a:lstStyle>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tick records</a:t>
            </a:r>
          </a:p>
        </p:txBody>
      </p:sp>
      <p:sp>
        <p:nvSpPr>
          <p:cNvPr id="6" name="sample-number-1">
            <a:extLst xmlns:a="http://schemas.openxmlformats.org/drawingml/2006/main">
              <a:ext uri="{FF2B5EF4-FFF2-40B4-BE49-F238E27FC236}">
                <a16:creationId xmlns:a16="http://schemas.microsoft.com/office/drawing/2014/main" id="{F3F4A68F-BFF8-4043-87D1-899C6DCFBCCA}"/>
              </a:ext>
            </a:extLst>
          </p:cNvPr>
          <p:cNvSpPr>
            <a:spLocks xmlns:a="http://schemas.openxmlformats.org/drawingml/2006/main" noGrp="1"/>
          </p:cNvSpPr>
          <p:nvPr/>
        </p:nvSpPr>
        <p:spPr>
          <a:xfrm xmlns:a="http://schemas.openxmlformats.org/drawingml/2006/main">
            <a:off x="4400550" y="211455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11838A"/>
                </a:solidFill>
                <a:latin typeface="Arial"/>
                <a:ea typeface="Arial"/>
                <a:cs typeface="Arial"/>
              </a:defRPr>
            </a:defPPr>
            <a:lvl1pPr>
              <a:defRPr sz="4125" b="1">
                <a:solidFill>
                  <a:srgbClr val="11838A"/>
                </a:solidFill>
                <a:latin typeface="Arial"/>
                <a:ea typeface="Arial"/>
                <a:cs typeface="Arial"/>
              </a:defRPr>
            </a:lvl1pPr>
            <a:lvl2pPr>
              <a:defRPr sz="4125" b="1">
                <a:solidFill>
                  <a:srgbClr val="11838A"/>
                </a:solidFill>
                <a:latin typeface="Arial"/>
                <a:ea typeface="Arial"/>
                <a:cs typeface="Arial"/>
              </a:defRPr>
            </a:lvl2pPr>
            <a:lvl3pPr>
              <a:defRPr sz="4125" b="1">
                <a:solidFill>
                  <a:srgbClr val="11838A"/>
                </a:solidFill>
                <a:latin typeface="Arial"/>
                <a:ea typeface="Arial"/>
                <a:cs typeface="Arial"/>
              </a:defRPr>
            </a:lvl3pPr>
            <a:lvl4pPr>
              <a:defRPr sz="4125" b="1">
                <a:solidFill>
                  <a:srgbClr val="11838A"/>
                </a:solidFill>
                <a:latin typeface="Arial"/>
                <a:ea typeface="Arial"/>
                <a:cs typeface="Arial"/>
              </a:defRPr>
            </a:lvl4pPr>
            <a:lvl5pPr>
              <a:defRPr sz="4125" b="1">
                <a:solidFill>
                  <a:srgbClr val="11838A"/>
                </a:solidFill>
                <a:latin typeface="Arial"/>
                <a:ea typeface="Arial"/>
                <a:cs typeface="Arial"/>
              </a:defRPr>
            </a:lvl5pPr>
            <a:lvl6pPr>
              <a:defRPr sz="4125" b="1">
                <a:solidFill>
                  <a:srgbClr val="11838A"/>
                </a:solidFill>
                <a:latin typeface="Arial"/>
                <a:ea typeface="Arial"/>
                <a:cs typeface="Arial"/>
              </a:defRPr>
            </a:lvl6pPr>
            <a:lvl7pPr>
              <a:defRPr sz="4125" b="1">
                <a:solidFill>
                  <a:srgbClr val="11838A"/>
                </a:solidFill>
                <a:latin typeface="Arial"/>
                <a:ea typeface="Arial"/>
                <a:cs typeface="Arial"/>
              </a:defRPr>
            </a:lvl7pPr>
            <a:lvl8pPr>
              <a:defRPr sz="4125" b="1">
                <a:solidFill>
                  <a:srgbClr val="11838A"/>
                </a:solidFill>
                <a:latin typeface="Arial"/>
                <a:ea typeface="Arial"/>
                <a:cs typeface="Arial"/>
              </a:defRPr>
            </a:lvl8pPr>
            <a:lvl9pPr>
              <a:defRPr sz="4125" b="1">
                <a:solidFill>
                  <a:srgbClr val="11838A"/>
                </a:solidFill>
                <a:latin typeface="Arial"/>
                <a:ea typeface="Arial"/>
                <a:cs typeface="Arial"/>
              </a:defRPr>
            </a:lvl9pPr>
          </a:lstStyle>
          <a:p xmlns:a="http://schemas.openxmlformats.org/drawingml/2006/main">
            <a:pPr>
              <a:defRPr sz="4125" b="1">
                <a:solidFill>
                  <a:srgbClr val="11838A"/>
                </a:solidFill>
                <a:latin typeface="Arial"/>
                <a:ea typeface="Arial"/>
                <a:cs typeface="Arial"/>
              </a:defRPr>
            </a:pPr>
            <a:r>
              <a:rPr sz="4125" b="1">
                <a:solidFill>
                  <a:srgbClr val="11838A"/>
                </a:solidFill>
                <a:latin typeface="Arial"/>
                <a:ea typeface="Arial"/>
                <a:cs typeface="Arial"/>
              </a:rPr>
              <a:t>960</a:t>
            </a:r>
          </a:p>
        </p:txBody>
      </p:sp>
      <p:sp>
        <p:nvSpPr>
          <p:cNvPr id="7" name="sample-label-1">
            <a:extLst xmlns:a="http://schemas.openxmlformats.org/drawingml/2006/main">
              <a:ext uri="{FF2B5EF4-FFF2-40B4-BE49-F238E27FC236}">
                <a16:creationId xmlns:a16="http://schemas.microsoft.com/office/drawing/2014/main" id="{2CFC7937-7C7B-446B-95A8-782131D2460D}"/>
              </a:ext>
            </a:extLst>
          </p:cNvPr>
          <p:cNvSpPr>
            <a:spLocks xmlns:a="http://schemas.openxmlformats.org/drawingml/2006/main" noGrp="1"/>
          </p:cNvSpPr>
          <p:nvPr/>
        </p:nvSpPr>
        <p:spPr>
          <a:xfrm xmlns:a="http://schemas.openxmlformats.org/drawingml/2006/main">
            <a:off x="4400550" y="28098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83340"/>
                </a:solidFill>
                <a:latin typeface="Arial"/>
                <a:ea typeface="Arial"/>
                <a:cs typeface="Arial"/>
              </a:defRPr>
            </a:defPPr>
            <a:lvl1pPr>
              <a:defRPr sz="1875">
                <a:solidFill>
                  <a:srgbClr val="183340"/>
                </a:solidFill>
                <a:latin typeface="Arial"/>
                <a:ea typeface="Arial"/>
                <a:cs typeface="Arial"/>
              </a:defRPr>
            </a:lvl1pPr>
            <a:lvl2pPr>
              <a:defRPr sz="1875">
                <a:solidFill>
                  <a:srgbClr val="183340"/>
                </a:solidFill>
                <a:latin typeface="Arial"/>
                <a:ea typeface="Arial"/>
                <a:cs typeface="Arial"/>
              </a:defRPr>
            </a:lvl2pPr>
            <a:lvl3pPr>
              <a:defRPr sz="1875">
                <a:solidFill>
                  <a:srgbClr val="183340"/>
                </a:solidFill>
                <a:latin typeface="Arial"/>
                <a:ea typeface="Arial"/>
                <a:cs typeface="Arial"/>
              </a:defRPr>
            </a:lvl3pPr>
            <a:lvl4pPr>
              <a:defRPr sz="1875">
                <a:solidFill>
                  <a:srgbClr val="183340"/>
                </a:solidFill>
                <a:latin typeface="Arial"/>
                <a:ea typeface="Arial"/>
                <a:cs typeface="Arial"/>
              </a:defRPr>
            </a:lvl4pPr>
            <a:lvl5pPr>
              <a:defRPr sz="1875">
                <a:solidFill>
                  <a:srgbClr val="183340"/>
                </a:solidFill>
                <a:latin typeface="Arial"/>
                <a:ea typeface="Arial"/>
                <a:cs typeface="Arial"/>
              </a:defRPr>
            </a:lvl5pPr>
            <a:lvl6pPr>
              <a:defRPr sz="1875">
                <a:solidFill>
                  <a:srgbClr val="183340"/>
                </a:solidFill>
                <a:latin typeface="Arial"/>
                <a:ea typeface="Arial"/>
                <a:cs typeface="Arial"/>
              </a:defRPr>
            </a:lvl6pPr>
            <a:lvl7pPr>
              <a:defRPr sz="1875">
                <a:solidFill>
                  <a:srgbClr val="183340"/>
                </a:solidFill>
                <a:latin typeface="Arial"/>
                <a:ea typeface="Arial"/>
                <a:cs typeface="Arial"/>
              </a:defRPr>
            </a:lvl7pPr>
            <a:lvl8pPr>
              <a:defRPr sz="1875">
                <a:solidFill>
                  <a:srgbClr val="183340"/>
                </a:solidFill>
                <a:latin typeface="Arial"/>
                <a:ea typeface="Arial"/>
                <a:cs typeface="Arial"/>
              </a:defRPr>
            </a:lvl8pPr>
            <a:lvl9pPr>
              <a:defRPr sz="1875">
                <a:solidFill>
                  <a:srgbClr val="183340"/>
                </a:solidFill>
                <a:latin typeface="Arial"/>
                <a:ea typeface="Arial"/>
                <a:cs typeface="Arial"/>
              </a:defRPr>
            </a:lvl9pPr>
          </a:lstStyle>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complete minute bars</a:t>
            </a:r>
          </a:p>
        </p:txBody>
      </p:sp>
      <p:sp>
        <p:nvSpPr>
          <p:cNvPr id="8" name="sample-number-2">
            <a:extLst xmlns:a="http://schemas.openxmlformats.org/drawingml/2006/main">
              <a:ext uri="{FF2B5EF4-FFF2-40B4-BE49-F238E27FC236}">
                <a16:creationId xmlns:a16="http://schemas.microsoft.com/office/drawing/2014/main" id="{45BFB6B8-0611-4949-BBFB-25FF9B0B6BC7}"/>
              </a:ext>
            </a:extLst>
          </p:cNvPr>
          <p:cNvSpPr>
            <a:spLocks xmlns:a="http://schemas.openxmlformats.org/drawingml/2006/main" noGrp="1"/>
          </p:cNvSpPr>
          <p:nvPr/>
        </p:nvSpPr>
        <p:spPr>
          <a:xfrm xmlns:a="http://schemas.openxmlformats.org/drawingml/2006/main">
            <a:off x="8115300" y="211455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11838A"/>
                </a:solidFill>
                <a:latin typeface="Arial"/>
                <a:ea typeface="Arial"/>
                <a:cs typeface="Arial"/>
              </a:defRPr>
            </a:defPPr>
            <a:lvl1pPr>
              <a:defRPr sz="4125" b="1">
                <a:solidFill>
                  <a:srgbClr val="11838A"/>
                </a:solidFill>
                <a:latin typeface="Arial"/>
                <a:ea typeface="Arial"/>
                <a:cs typeface="Arial"/>
              </a:defRPr>
            </a:lvl1pPr>
            <a:lvl2pPr>
              <a:defRPr sz="4125" b="1">
                <a:solidFill>
                  <a:srgbClr val="11838A"/>
                </a:solidFill>
                <a:latin typeface="Arial"/>
                <a:ea typeface="Arial"/>
                <a:cs typeface="Arial"/>
              </a:defRPr>
            </a:lvl2pPr>
            <a:lvl3pPr>
              <a:defRPr sz="4125" b="1">
                <a:solidFill>
                  <a:srgbClr val="11838A"/>
                </a:solidFill>
                <a:latin typeface="Arial"/>
                <a:ea typeface="Arial"/>
                <a:cs typeface="Arial"/>
              </a:defRPr>
            </a:lvl3pPr>
            <a:lvl4pPr>
              <a:defRPr sz="4125" b="1">
                <a:solidFill>
                  <a:srgbClr val="11838A"/>
                </a:solidFill>
                <a:latin typeface="Arial"/>
                <a:ea typeface="Arial"/>
                <a:cs typeface="Arial"/>
              </a:defRPr>
            </a:lvl4pPr>
            <a:lvl5pPr>
              <a:defRPr sz="4125" b="1">
                <a:solidFill>
                  <a:srgbClr val="11838A"/>
                </a:solidFill>
                <a:latin typeface="Arial"/>
                <a:ea typeface="Arial"/>
                <a:cs typeface="Arial"/>
              </a:defRPr>
            </a:lvl5pPr>
            <a:lvl6pPr>
              <a:defRPr sz="4125" b="1">
                <a:solidFill>
                  <a:srgbClr val="11838A"/>
                </a:solidFill>
                <a:latin typeface="Arial"/>
                <a:ea typeface="Arial"/>
                <a:cs typeface="Arial"/>
              </a:defRPr>
            </a:lvl6pPr>
            <a:lvl7pPr>
              <a:defRPr sz="4125" b="1">
                <a:solidFill>
                  <a:srgbClr val="11838A"/>
                </a:solidFill>
                <a:latin typeface="Arial"/>
                <a:ea typeface="Arial"/>
                <a:cs typeface="Arial"/>
              </a:defRPr>
            </a:lvl7pPr>
            <a:lvl8pPr>
              <a:defRPr sz="4125" b="1">
                <a:solidFill>
                  <a:srgbClr val="11838A"/>
                </a:solidFill>
                <a:latin typeface="Arial"/>
                <a:ea typeface="Arial"/>
                <a:cs typeface="Arial"/>
              </a:defRPr>
            </a:lvl8pPr>
            <a:lvl9pPr>
              <a:defRPr sz="4125" b="1">
                <a:solidFill>
                  <a:srgbClr val="11838A"/>
                </a:solidFill>
                <a:latin typeface="Arial"/>
                <a:ea typeface="Arial"/>
                <a:cs typeface="Arial"/>
              </a:defRPr>
            </a:lvl9pPr>
          </a:lstStyle>
          <a:p xmlns:a="http://schemas.openxmlformats.org/drawingml/2006/main">
            <a:pPr>
              <a:defRPr sz="4125" b="1">
                <a:solidFill>
                  <a:srgbClr val="11838A"/>
                </a:solidFill>
                <a:latin typeface="Arial"/>
                <a:ea typeface="Arial"/>
                <a:cs typeface="Arial"/>
              </a:defRPr>
            </a:pPr>
            <a:r>
              <a:rPr sz="4125" b="1">
                <a:solidFill>
                  <a:srgbClr val="11838A"/>
                </a:solidFill>
                <a:latin typeface="Arial"/>
                <a:ea typeface="Arial"/>
                <a:cs typeface="Arial"/>
              </a:rPr>
              <a:t>720</a:t>
            </a:r>
          </a:p>
        </p:txBody>
      </p:sp>
      <p:sp>
        <p:nvSpPr>
          <p:cNvPr id="9" name="sample-label-2">
            <a:extLst xmlns:a="http://schemas.openxmlformats.org/drawingml/2006/main">
              <a:ext uri="{FF2B5EF4-FFF2-40B4-BE49-F238E27FC236}">
                <a16:creationId xmlns:a16="http://schemas.microsoft.com/office/drawing/2014/main" id="{D338C860-1687-4C9D-B46B-1744D0AB357D}"/>
              </a:ext>
            </a:extLst>
          </p:cNvPr>
          <p:cNvSpPr>
            <a:spLocks xmlns:a="http://schemas.openxmlformats.org/drawingml/2006/main" noGrp="1"/>
          </p:cNvSpPr>
          <p:nvPr/>
        </p:nvSpPr>
        <p:spPr>
          <a:xfrm xmlns:a="http://schemas.openxmlformats.org/drawingml/2006/main">
            <a:off x="8115300" y="28098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83340"/>
                </a:solidFill>
                <a:latin typeface="Arial"/>
                <a:ea typeface="Arial"/>
                <a:cs typeface="Arial"/>
              </a:defRPr>
            </a:defPPr>
            <a:lvl1pPr>
              <a:defRPr sz="1875">
                <a:solidFill>
                  <a:srgbClr val="183340"/>
                </a:solidFill>
                <a:latin typeface="Arial"/>
                <a:ea typeface="Arial"/>
                <a:cs typeface="Arial"/>
              </a:defRPr>
            </a:lvl1pPr>
            <a:lvl2pPr>
              <a:defRPr sz="1875">
                <a:solidFill>
                  <a:srgbClr val="183340"/>
                </a:solidFill>
                <a:latin typeface="Arial"/>
                <a:ea typeface="Arial"/>
                <a:cs typeface="Arial"/>
              </a:defRPr>
            </a:lvl2pPr>
            <a:lvl3pPr>
              <a:defRPr sz="1875">
                <a:solidFill>
                  <a:srgbClr val="183340"/>
                </a:solidFill>
                <a:latin typeface="Arial"/>
                <a:ea typeface="Arial"/>
                <a:cs typeface="Arial"/>
              </a:defRPr>
            </a:lvl3pPr>
            <a:lvl4pPr>
              <a:defRPr sz="1875">
                <a:solidFill>
                  <a:srgbClr val="183340"/>
                </a:solidFill>
                <a:latin typeface="Arial"/>
                <a:ea typeface="Arial"/>
                <a:cs typeface="Arial"/>
              </a:defRPr>
            </a:lvl4pPr>
            <a:lvl5pPr>
              <a:defRPr sz="1875">
                <a:solidFill>
                  <a:srgbClr val="183340"/>
                </a:solidFill>
                <a:latin typeface="Arial"/>
                <a:ea typeface="Arial"/>
                <a:cs typeface="Arial"/>
              </a:defRPr>
            </a:lvl5pPr>
            <a:lvl6pPr>
              <a:defRPr sz="1875">
                <a:solidFill>
                  <a:srgbClr val="183340"/>
                </a:solidFill>
                <a:latin typeface="Arial"/>
                <a:ea typeface="Arial"/>
                <a:cs typeface="Arial"/>
              </a:defRPr>
            </a:lvl6pPr>
            <a:lvl7pPr>
              <a:defRPr sz="1875">
                <a:solidFill>
                  <a:srgbClr val="183340"/>
                </a:solidFill>
                <a:latin typeface="Arial"/>
                <a:ea typeface="Arial"/>
                <a:cs typeface="Arial"/>
              </a:defRPr>
            </a:lvl7pPr>
            <a:lvl8pPr>
              <a:defRPr sz="1875">
                <a:solidFill>
                  <a:srgbClr val="183340"/>
                </a:solidFill>
                <a:latin typeface="Arial"/>
                <a:ea typeface="Arial"/>
                <a:cs typeface="Arial"/>
              </a:defRPr>
            </a:lvl8pPr>
            <a:lvl9pPr>
              <a:defRPr sz="1875">
                <a:solidFill>
                  <a:srgbClr val="183340"/>
                </a:solidFill>
                <a:latin typeface="Arial"/>
                <a:ea typeface="Arial"/>
                <a:cs typeface="Arial"/>
              </a:defRPr>
            </a:lvl9pPr>
          </a:lstStyle>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forecasting windows</a:t>
            </a:r>
          </a:p>
        </p:txBody>
      </p:sp>
      <p:graphicFrame>
        <p:nvGraphicFramePr>
          <p:cNvPr id="10" name="">
            <a:extLst xmlns:a="http://schemas.openxmlformats.org/drawingml/2006/main">
              <a:ext uri="{FF2B5EF4-FFF2-40B4-BE49-F238E27FC236}">
                <a16:creationId xmlns:a16="http://schemas.microsoft.com/office/drawing/2014/main" id="{A8D6A52E-540C-4637-B52D-3FB493534840}"/>
              </a:ext>
            </a:extLst>
          </p:cNvPr>
          <p:cNvGraphicFramePr/>
          <p:nvPr/>
        </p:nvGraphicFramePr>
        <p:xfrm>
          <a:off xmlns:a="http://schemas.openxmlformats.org/drawingml/2006/main" x="685800" y="3524250"/>
          <a:ext xmlns:a="http://schemas.openxmlformats.org/drawingml/2006/main" cx="10820400" cy="2095500"/>
        </p:xfrm>
        <a:graphic xmlns:a="http://schemas.openxmlformats.org/drawingml/2006/main">
          <a:graphicData uri="http://schemas.openxmlformats.org/drawingml/2006/table">
            <a:tbl>
              <a:tblPr/>
              <a:tblGrid>
                <a:gridCol w="2476500"/>
                <a:gridCol w="3714750"/>
                <a:gridCol w="2286000"/>
                <a:gridCol w="2343150"/>
              </a:tblGrid>
              <a:tr h="523875">
                <a:tc>
                  <a:txBody>
                    <a:bodyPr lIns="142875" tIns="142875" rIns="142875" bIns="142875">
                      <a:noAutofit/>
                    </a:bodyPr>
                    <a:lstStyle/>
                    <a:p>
                      <a:r>
                        <a:rPr sz="1800" b="1">
                          <a:solidFill>
                            <a:srgbClr val="FFFFFF"/>
                          </a:solidFill>
                          <a:latin typeface="Arial"/>
                          <a:ea typeface="Arial"/>
                          <a:cs typeface="Arial"/>
                        </a:rPr>
                        <a:t>Partition</a:t>
                      </a:r>
                    </a:p>
                  </a:txBody>
                  <a:tcPr marL="91440" marR="91440" marT="45720" marB="45720" anchor="ctr">
                    <a:lnL w="9525">
                      <a:solidFill>
                        <a:srgbClr val="CFDCDF"/>
                      </a:solidFill>
                      <a:prstDash val="solid"/>
                    </a:lnL>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c>
                  <a:txBody>
                    <a:bodyPr lIns="142875" tIns="142875" rIns="142875" bIns="142875">
                      <a:noAutofit/>
                    </a:bodyPr>
                    <a:lstStyle/>
                    <a:p>
                      <a:r>
                        <a:rPr sz="1800" b="1">
                          <a:solidFill>
                            <a:srgbClr val="FFFFFF"/>
                          </a:solidFill>
                          <a:latin typeface="Arial"/>
                          <a:ea typeface="Arial"/>
                          <a:cs typeface="Arial"/>
                        </a:rPr>
                        <a:t>Dates in January 2026</a:t>
                      </a:r>
                    </a:p>
                  </a:txBody>
                  <a:tcPr marL="91440" marR="91440" marT="45720" marB="45720" anchor="ctr">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c>
                  <a:txBody>
                    <a:bodyPr lIns="142875" tIns="142875" rIns="142875" bIns="142875">
                      <a:noAutofit/>
                    </a:bodyPr>
                    <a:lstStyle/>
                    <a:p>
                      <a:r>
                        <a:rPr sz="1800" b="1">
                          <a:solidFill>
                            <a:srgbClr val="FFFFFF"/>
                          </a:solidFill>
                          <a:latin typeface="Arial"/>
                          <a:ea typeface="Arial"/>
                          <a:cs typeface="Arial"/>
                        </a:rPr>
                        <a:t>Session dates</a:t>
                      </a:r>
                    </a:p>
                  </a:txBody>
                  <a:tcPr marL="91440" marR="91440" marT="45720" marB="45720" anchor="ctr">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c>
                  <a:txBody>
                    <a:bodyPr lIns="142875" tIns="142875" rIns="142875" bIns="142875">
                      <a:noAutofit/>
                    </a:bodyPr>
                    <a:lstStyle/>
                    <a:p>
                      <a:r>
                        <a:rPr sz="1800" b="1">
                          <a:solidFill>
                            <a:srgbClr val="FFFFFF"/>
                          </a:solidFill>
                          <a:latin typeface="Arial"/>
                          <a:ea typeface="Arial"/>
                          <a:cs typeface="Arial"/>
                        </a:rPr>
                        <a:t>Windows</a:t>
                      </a:r>
                    </a:p>
                  </a:txBody>
                  <a:tcPr marL="91440" marR="91440" marT="45720" marB="45720" anchor="ctr">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r>
              <a:tr h="523875">
                <a:tc>
                  <a:txBody>
                    <a:bodyPr lIns="142875" tIns="142875" rIns="142875" bIns="142875">
                      <a:noAutofit/>
                    </a:bodyPr>
                    <a:lstStyle/>
                    <a:p>
                      <a:r>
                        <a:rPr sz="1800" b="0">
                          <a:solidFill>
                            <a:srgbClr val="183340"/>
                          </a:solidFill>
                          <a:latin typeface="Arial"/>
                          <a:ea typeface="Arial"/>
                          <a:cs typeface="Arial"/>
                        </a:rPr>
                        <a:t>Training</a:t>
                      </a:r>
                    </a:p>
                  </a:txBody>
                  <a:tcPr marL="91440" marR="91440" marT="45720" marB="45720" anchor="ctr">
                    <a:lnL w="9525">
                      <a:solidFill>
                        <a:srgbClr val="CFDCDF"/>
                      </a:solidFill>
                      <a:prstDash val="solid"/>
                    </a:lnL>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800" b="0">
                          <a:solidFill>
                            <a:srgbClr val="183340"/>
                          </a:solidFill>
                          <a:latin typeface="Arial"/>
                          <a:ea typeface="Arial"/>
                          <a:cs typeface="Arial"/>
                        </a:rPr>
                        <a:t>05-09</a:t>
                      </a:r>
                    </a:p>
                  </a:txBody>
                  <a:tcPr marL="91440" marR="91440" marT="45720" marB="45720" anchor="ctr">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800" b="0">
                          <a:solidFill>
                            <a:srgbClr val="183340"/>
                          </a:solidFill>
                          <a:latin typeface="Arial"/>
                          <a:ea typeface="Arial"/>
                          <a:cs typeface="Arial"/>
                        </a:rPr>
                        <a:t>5</a:t>
                      </a:r>
                    </a:p>
                  </a:txBody>
                  <a:tcPr marL="91440" marR="91440" marT="45720" marB="45720" anchor="ctr">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800" b="0">
                          <a:solidFill>
                            <a:srgbClr val="183340"/>
                          </a:solidFill>
                          <a:latin typeface="Arial"/>
                          <a:ea typeface="Arial"/>
                          <a:cs typeface="Arial"/>
                        </a:rPr>
                        <a:t>450</a:t>
                      </a:r>
                    </a:p>
                  </a:txBody>
                  <a:tcPr marL="91440" marR="91440" marT="45720" marB="45720" anchor="ctr">
                    <a:lnR w="9525">
                      <a:solidFill>
                        <a:srgbClr val="CFDCDF"/>
                      </a:solidFill>
                      <a:prstDash val="solid"/>
                    </a:lnR>
                    <a:lnB w="9525">
                      <a:solidFill>
                        <a:srgbClr val="CFDCDF"/>
                      </a:solidFill>
                      <a:prstDash val="solid"/>
                    </a:lnB>
                    <a:solidFill>
                      <a:srgbClr val="FFFFFF"/>
                    </a:solidFill>
                  </a:tcPr>
                </a:tc>
              </a:tr>
              <a:tr h="523875">
                <a:tc>
                  <a:txBody>
                    <a:bodyPr lIns="142875" tIns="142875" rIns="142875" bIns="142875">
                      <a:noAutofit/>
                    </a:bodyPr>
                    <a:lstStyle/>
                    <a:p>
                      <a:r>
                        <a:rPr sz="1800" b="0">
                          <a:solidFill>
                            <a:srgbClr val="183340"/>
                          </a:solidFill>
                          <a:latin typeface="Arial"/>
                          <a:ea typeface="Arial"/>
                          <a:cs typeface="Arial"/>
                        </a:rPr>
                        <a:t>Validation</a:t>
                      </a:r>
                    </a:p>
                  </a:txBody>
                  <a:tcPr marL="91440" marR="91440" marT="45720" marB="45720" anchor="ctr">
                    <a:lnL w="9525">
                      <a:solidFill>
                        <a:srgbClr val="CFDCDF"/>
                      </a:solidFill>
                      <a:prstDash val="solid"/>
                    </a:lnL>
                    <a:lnR w="9525">
                      <a:solidFill>
                        <a:srgbClr val="CFDCDF"/>
                      </a:solidFill>
                      <a:prstDash val="solid"/>
                    </a:lnR>
                    <a:lnB w="9525">
                      <a:solidFill>
                        <a:srgbClr val="CFDCDF"/>
                      </a:solidFill>
                      <a:prstDash val="solid"/>
                    </a:lnB>
                    <a:solidFill>
                      <a:srgbClr val="ECF6F5"/>
                    </a:solidFill>
                  </a:tcPr>
                </a:tc>
                <a:tc>
                  <a:txBody>
                    <a:bodyPr lIns="142875" tIns="142875" rIns="142875" bIns="142875">
                      <a:noAutofit/>
                    </a:bodyPr>
                    <a:lstStyle/>
                    <a:p>
                      <a:r>
                        <a:rPr sz="1800" b="0">
                          <a:solidFill>
                            <a:srgbClr val="183340"/>
                          </a:solidFill>
                          <a:latin typeface="Arial"/>
                          <a:ea typeface="Arial"/>
                          <a:cs typeface="Arial"/>
                        </a:rPr>
                        <a:t>12</a:t>
                      </a:r>
                    </a:p>
                  </a:txBody>
                  <a:tcPr marL="91440" marR="91440" marT="45720" marB="45720" anchor="ctr">
                    <a:lnR w="9525">
                      <a:solidFill>
                        <a:srgbClr val="CFDCDF"/>
                      </a:solidFill>
                      <a:prstDash val="solid"/>
                    </a:lnR>
                    <a:lnB w="9525">
                      <a:solidFill>
                        <a:srgbClr val="CFDCDF"/>
                      </a:solidFill>
                      <a:prstDash val="solid"/>
                    </a:lnB>
                    <a:solidFill>
                      <a:srgbClr val="ECF6F5"/>
                    </a:solidFill>
                  </a:tcPr>
                </a:tc>
                <a:tc>
                  <a:txBody>
                    <a:bodyPr lIns="142875" tIns="142875" rIns="142875" bIns="142875">
                      <a:noAutofit/>
                    </a:bodyPr>
                    <a:lstStyle/>
                    <a:p>
                      <a:r>
                        <a:rPr sz="1800" b="0">
                          <a:solidFill>
                            <a:srgbClr val="183340"/>
                          </a:solidFill>
                          <a:latin typeface="Arial"/>
                          <a:ea typeface="Arial"/>
                          <a:cs typeface="Arial"/>
                        </a:rPr>
                        <a:t>1</a:t>
                      </a:r>
                    </a:p>
                  </a:txBody>
                  <a:tcPr marL="91440" marR="91440" marT="45720" marB="45720" anchor="ctr">
                    <a:lnR w="9525">
                      <a:solidFill>
                        <a:srgbClr val="CFDCDF"/>
                      </a:solidFill>
                      <a:prstDash val="solid"/>
                    </a:lnR>
                    <a:lnB w="9525">
                      <a:solidFill>
                        <a:srgbClr val="CFDCDF"/>
                      </a:solidFill>
                      <a:prstDash val="solid"/>
                    </a:lnB>
                    <a:solidFill>
                      <a:srgbClr val="ECF6F5"/>
                    </a:solidFill>
                  </a:tcPr>
                </a:tc>
                <a:tc>
                  <a:txBody>
                    <a:bodyPr lIns="142875" tIns="142875" rIns="142875" bIns="142875">
                      <a:noAutofit/>
                    </a:bodyPr>
                    <a:lstStyle/>
                    <a:p>
                      <a:r>
                        <a:rPr sz="1800" b="0">
                          <a:solidFill>
                            <a:srgbClr val="183340"/>
                          </a:solidFill>
                          <a:latin typeface="Arial"/>
                          <a:ea typeface="Arial"/>
                          <a:cs typeface="Arial"/>
                        </a:rPr>
                        <a:t>90</a:t>
                      </a:r>
                    </a:p>
                  </a:txBody>
                  <a:tcPr marL="91440" marR="91440" marT="45720" marB="45720" anchor="ctr">
                    <a:lnR w="9525">
                      <a:solidFill>
                        <a:srgbClr val="CFDCDF"/>
                      </a:solidFill>
                      <a:prstDash val="solid"/>
                    </a:lnR>
                    <a:lnB w="9525">
                      <a:solidFill>
                        <a:srgbClr val="CFDCDF"/>
                      </a:solidFill>
                      <a:prstDash val="solid"/>
                    </a:lnB>
                    <a:solidFill>
                      <a:srgbClr val="ECF6F5"/>
                    </a:solidFill>
                  </a:tcPr>
                </a:tc>
              </a:tr>
              <a:tr h="523875">
                <a:tc>
                  <a:txBody>
                    <a:bodyPr lIns="142875" tIns="142875" rIns="142875" bIns="142875">
                      <a:noAutofit/>
                    </a:bodyPr>
                    <a:lstStyle/>
                    <a:p>
                      <a:r>
                        <a:rPr sz="1800" b="0">
                          <a:solidFill>
                            <a:srgbClr val="183340"/>
                          </a:solidFill>
                          <a:latin typeface="Arial"/>
                          <a:ea typeface="Arial"/>
                          <a:cs typeface="Arial"/>
                        </a:rPr>
                        <a:t>Test</a:t>
                      </a:r>
                    </a:p>
                  </a:txBody>
                  <a:tcPr marL="91440" marR="91440" marT="45720" marB="45720" anchor="ctr">
                    <a:lnL w="9525">
                      <a:solidFill>
                        <a:srgbClr val="CFDCDF"/>
                      </a:solidFill>
                      <a:prstDash val="solid"/>
                    </a:lnL>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800" b="0">
                          <a:solidFill>
                            <a:srgbClr val="183340"/>
                          </a:solidFill>
                          <a:latin typeface="Arial"/>
                          <a:ea typeface="Arial"/>
                          <a:cs typeface="Arial"/>
                        </a:rPr>
                        <a:t>13-14</a:t>
                      </a:r>
                    </a:p>
                  </a:txBody>
                  <a:tcPr marL="91440" marR="91440" marT="45720" marB="45720" anchor="ctr">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800" b="0">
                          <a:solidFill>
                            <a:srgbClr val="183340"/>
                          </a:solidFill>
                          <a:latin typeface="Arial"/>
                          <a:ea typeface="Arial"/>
                          <a:cs typeface="Arial"/>
                        </a:rPr>
                        <a:t>2</a:t>
                      </a:r>
                    </a:p>
                  </a:txBody>
                  <a:tcPr marL="91440" marR="91440" marT="45720" marB="45720" anchor="ctr">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800" b="0">
                          <a:solidFill>
                            <a:srgbClr val="183340"/>
                          </a:solidFill>
                          <a:latin typeface="Arial"/>
                          <a:ea typeface="Arial"/>
                          <a:cs typeface="Arial"/>
                        </a:rPr>
                        <a:t>180</a:t>
                      </a:r>
                    </a:p>
                  </a:txBody>
                  <a:tcPr marL="91440" marR="91440" marT="45720" marB="45720" anchor="ctr">
                    <a:lnR w="9525">
                      <a:solidFill>
                        <a:srgbClr val="CFDCDF"/>
                      </a:solidFill>
                      <a:prstDash val="solid"/>
                    </a:lnR>
                    <a:lnB w="9525">
                      <a:solidFill>
                        <a:srgbClr val="CFDCDF"/>
                      </a:solidFill>
                      <a:prstDash val="solid"/>
                    </a:lnB>
                    <a:solidFill>
                      <a:srgbClr val="FFFFFF"/>
                    </a:solidFill>
                  </a:tcPr>
                </a:tc>
              </a:tr>
            </a:tbl>
          </a:graphicData>
        </a:graphic>
      </p:graphicFrame>
      <p:sp>
        <p:nvSpPr>
          <p:cNvPr id="11" name="data-policy">
            <a:extLst xmlns:a="http://schemas.openxmlformats.org/drawingml/2006/main">
              <a:ext uri="{FF2B5EF4-FFF2-40B4-BE49-F238E27FC236}">
                <a16:creationId xmlns:a16="http://schemas.microsoft.com/office/drawing/2014/main" id="{A07EE89A-734C-482A-A0D2-E47DEA014043}"/>
              </a:ext>
            </a:extLst>
          </p:cNvPr>
          <p:cNvSpPr>
            <a:spLocks xmlns:a="http://schemas.openxmlformats.org/drawingml/2006/main" noGrp="1"/>
          </p:cNvSpPr>
          <p:nvPr/>
        </p:nvSpPr>
        <p:spPr>
          <a:xfrm xmlns:a="http://schemas.openxmlformats.org/drawingml/2006/main">
            <a:off x="685800" y="58674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526875"/>
                </a:solidFill>
                <a:latin typeface="Arial"/>
                <a:ea typeface="Arial"/>
                <a:cs typeface="Arial"/>
              </a:defRPr>
            </a:defPPr>
            <a:lvl1pPr>
              <a:defRPr sz="1650">
                <a:solidFill>
                  <a:srgbClr val="526875"/>
                </a:solidFill>
                <a:latin typeface="Arial"/>
                <a:ea typeface="Arial"/>
                <a:cs typeface="Arial"/>
              </a:defRPr>
            </a:lvl1pPr>
            <a:lvl2pPr>
              <a:defRPr sz="1650">
                <a:solidFill>
                  <a:srgbClr val="526875"/>
                </a:solidFill>
                <a:latin typeface="Arial"/>
                <a:ea typeface="Arial"/>
                <a:cs typeface="Arial"/>
              </a:defRPr>
            </a:lvl2pPr>
            <a:lvl3pPr>
              <a:defRPr sz="1650">
                <a:solidFill>
                  <a:srgbClr val="526875"/>
                </a:solidFill>
                <a:latin typeface="Arial"/>
                <a:ea typeface="Arial"/>
                <a:cs typeface="Arial"/>
              </a:defRPr>
            </a:lvl3pPr>
            <a:lvl4pPr>
              <a:defRPr sz="1650">
                <a:solidFill>
                  <a:srgbClr val="526875"/>
                </a:solidFill>
                <a:latin typeface="Arial"/>
                <a:ea typeface="Arial"/>
                <a:cs typeface="Arial"/>
              </a:defRPr>
            </a:lvl4pPr>
            <a:lvl5pPr>
              <a:defRPr sz="1650">
                <a:solidFill>
                  <a:srgbClr val="526875"/>
                </a:solidFill>
                <a:latin typeface="Arial"/>
                <a:ea typeface="Arial"/>
                <a:cs typeface="Arial"/>
              </a:defRPr>
            </a:lvl5pPr>
            <a:lvl6pPr>
              <a:defRPr sz="1650">
                <a:solidFill>
                  <a:srgbClr val="526875"/>
                </a:solidFill>
                <a:latin typeface="Arial"/>
                <a:ea typeface="Arial"/>
                <a:cs typeface="Arial"/>
              </a:defRPr>
            </a:lvl6pPr>
            <a:lvl7pPr>
              <a:defRPr sz="1650">
                <a:solidFill>
                  <a:srgbClr val="526875"/>
                </a:solidFill>
                <a:latin typeface="Arial"/>
                <a:ea typeface="Arial"/>
                <a:cs typeface="Arial"/>
              </a:defRPr>
            </a:lvl7pPr>
            <a:lvl8pPr>
              <a:defRPr sz="1650">
                <a:solidFill>
                  <a:srgbClr val="526875"/>
                </a:solidFill>
                <a:latin typeface="Arial"/>
                <a:ea typeface="Arial"/>
                <a:cs typeface="Arial"/>
              </a:defRPr>
            </a:lvl8pPr>
            <a:lvl9pPr>
              <a:defRPr sz="1650">
                <a:solidFill>
                  <a:srgbClr val="526875"/>
                </a:solidFill>
                <a:latin typeface="Arial"/>
                <a:ea typeface="Arial"/>
                <a:cs typeface="Arial"/>
              </a:defRPr>
            </a:lvl9pPr>
          </a:lstStyle>
          <a:p xmlns:a="http://schemas.openxmlformats.org/drawingml/2006/main">
            <a:pPr>
              <a:defRPr sz="1650">
                <a:solidFill>
                  <a:srgbClr val="526875"/>
                </a:solidFill>
                <a:latin typeface="Arial"/>
                <a:ea typeface="Arial"/>
                <a:cs typeface="Arial"/>
              </a:defRPr>
            </a:pPr>
            <a:r>
              <a:rPr sz="1650">
                <a:solidFill>
                  <a:srgbClr val="526875"/>
                </a:solidFill>
                <a:latin typeface="Arial"/>
                <a:ea typeface="Arial"/>
                <a:cs typeface="Arial"/>
              </a:rPr>
              <a:t>Explicit timezone and units. Daily resets and feed gaps handled before window creation.</a:t>
            </a:r>
          </a:p>
        </p:txBody>
      </p:sp>
    </p:spTree>
    <p:extLst>
      <p:ext uri="{BB962C8B-B14F-4D97-AF65-F5344CB8AC3E}">
        <p14:creationId xmlns:p14="http://schemas.microsoft.com/office/powerpoint/2010/main" val="582872793"/>
      </p:ext>
    </p:extLst>
  </p:cSld>
</p:sld>
</file>

<file path=ppt/slides/slide5.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CF8BD0A0-6447-44E1-B319-86C61FDF6D7E}"/>
              </a:ext>
            </a:extLst>
          </p:cNvPr>
          <p:cNvCxnSpPr>
            <a:stCxn xmlns:a="http://schemas.openxmlformats.org/drawingml/2006/main" id="9" idx="3"/>
            <a:endCxn xmlns:a="http://schemas.openxmlformats.org/drawingml/2006/main" id="10" idx="2"/>
          </p:cNvCxnSpPr>
          <p:nvPr/>
        </p:nvCxnSpPr>
        <p:spPr>
          <a:xfrm xmlns:a="http://schemas.openxmlformats.org/drawingml/2006/main" flipV="1">
            <a:off x="6934200" y="5334000"/>
            <a:ext cx="2933700" cy="228600"/>
          </a:xfrm>
          <a:prstGeom xmlns:a="http://schemas.openxmlformats.org/drawingml/2006/main" prst="bentConnector4">
            <a:avLst/>
          </a:prstGeom>
          <a:ln xmlns:a="http://schemas.openxmlformats.org/drawingml/2006/main" w="19050">
            <a:solidFill>
              <a:srgbClr val="11838A"/>
            </a:solidFill>
            <a:tailEnd type="triangle" w="med" len="med"/>
          </a:ln>
        </p:spPr>
      </p:cxnSp>
      <p:cxnSp>
        <p:nvCxnSpPr>
          <p:cNvPr id="15" name="">
            <a:extLst xmlns:a="http://schemas.openxmlformats.org/drawingml/2006/main">
              <a:ext uri="{FF2B5EF4-FFF2-40B4-BE49-F238E27FC236}">
                <a16:creationId xmlns:a16="http://schemas.microsoft.com/office/drawing/2014/main" id="{D7B659A4-F5CD-4728-A422-ECBDF9A4502D}"/>
              </a:ext>
            </a:extLst>
          </p:cNvPr>
          <p:cNvCxnSpPr>
            <a:stCxn xmlns:a="http://schemas.openxmlformats.org/drawingml/2006/main" id="7" idx="3"/>
            <a:endCxn xmlns:a="http://schemas.openxmlformats.org/drawingml/2006/main" id="10" idx="1"/>
          </p:cNvCxnSpPr>
          <p:nvPr/>
        </p:nvCxnSpPr>
        <p:spPr>
          <a:xfrm xmlns:a="http://schemas.openxmlformats.org/drawingml/2006/main">
            <a:off x="6934200" y="4119563"/>
            <a:ext cx="1295400" cy="23813"/>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14" name="">
            <a:extLst xmlns:a="http://schemas.openxmlformats.org/drawingml/2006/main">
              <a:ext uri="{FF2B5EF4-FFF2-40B4-BE49-F238E27FC236}">
                <a16:creationId xmlns:a16="http://schemas.microsoft.com/office/drawing/2014/main" id="{FD2085F9-10A8-4324-A03D-950A6227926B}"/>
              </a:ext>
            </a:extLst>
          </p:cNvPr>
          <p:cNvCxnSpPr>
            <a:stCxn xmlns:a="http://schemas.openxmlformats.org/drawingml/2006/main" id="5" idx="3"/>
            <a:endCxn xmlns:a="http://schemas.openxmlformats.org/drawingml/2006/main" id="10" idx="0"/>
          </p:cNvCxnSpPr>
          <p:nvPr/>
        </p:nvCxnSpPr>
        <p:spPr>
          <a:xfrm xmlns:a="http://schemas.openxmlformats.org/drawingml/2006/main">
            <a:off x="6934200" y="2638425"/>
            <a:ext cx="2933700" cy="314325"/>
          </a:xfrm>
          <a:prstGeom xmlns:a="http://schemas.openxmlformats.org/drawingml/2006/main" prst="bentConnector2">
            <a:avLst/>
          </a:prstGeom>
          <a:ln xmlns:a="http://schemas.openxmlformats.org/drawingml/2006/main" w="19050">
            <a:solidFill>
              <a:srgbClr val="11838A"/>
            </a:solidFill>
            <a:tailEnd type="triangle" w="med" len="med"/>
          </a:ln>
        </p:spPr>
      </p:cxnSp>
      <p:cxnSp>
        <p:nvCxnSpPr>
          <p:cNvPr id="13" name="">
            <a:extLst xmlns:a="http://schemas.openxmlformats.org/drawingml/2006/main">
              <a:ext uri="{FF2B5EF4-FFF2-40B4-BE49-F238E27FC236}">
                <a16:creationId xmlns:a16="http://schemas.microsoft.com/office/drawing/2014/main" id="{89214236-8EB3-4E79-8BFA-798F1B2DB0CA}"/>
              </a:ext>
            </a:extLst>
          </p:cNvPr>
          <p:cNvCxnSpPr>
            <a:stCxn xmlns:a="http://schemas.openxmlformats.org/drawingml/2006/main" id="8" idx="3"/>
            <a:endCxn xmlns:a="http://schemas.openxmlformats.org/drawingml/2006/main" id="9" idx="1"/>
          </p:cNvCxnSpPr>
          <p:nvPr/>
        </p:nvCxnSpPr>
        <p:spPr>
          <a:xfrm xmlns:a="http://schemas.openxmlformats.org/drawingml/2006/main">
            <a:off x="3352800" y="5438775"/>
            <a:ext cx="723900" cy="0"/>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12" name="">
            <a:extLst xmlns:a="http://schemas.openxmlformats.org/drawingml/2006/main">
              <a:ext uri="{FF2B5EF4-FFF2-40B4-BE49-F238E27FC236}">
                <a16:creationId xmlns:a16="http://schemas.microsoft.com/office/drawing/2014/main" id="{378C4117-9500-461A-9656-AECC5B7E3C0A}"/>
              </a:ext>
            </a:extLst>
          </p:cNvPr>
          <p:cNvCxnSpPr>
            <a:stCxn xmlns:a="http://schemas.openxmlformats.org/drawingml/2006/main" id="6" idx="3"/>
            <a:endCxn xmlns:a="http://schemas.openxmlformats.org/drawingml/2006/main" id="7" idx="1"/>
          </p:cNvCxnSpPr>
          <p:nvPr/>
        </p:nvCxnSpPr>
        <p:spPr>
          <a:xfrm xmlns:a="http://schemas.openxmlformats.org/drawingml/2006/main">
            <a:off x="3352800" y="4119563"/>
            <a:ext cx="723900" cy="0"/>
          </a:xfrm>
          <a:prstGeom xmlns:a="http://schemas.openxmlformats.org/drawingml/2006/main" prst="straightConnector1">
            <a:avLst/>
          </a:prstGeom>
          <a:ln xmlns:a="http://schemas.openxmlformats.org/drawingml/2006/main" w="19050">
            <a:solidFill>
              <a:srgbClr val="11838A"/>
            </a:solidFill>
            <a:tailEnd type="triangle" w="med" len="med"/>
          </a:ln>
        </p:spPr>
      </p:cxnSp>
      <p:cxnSp>
        <p:nvCxnSpPr>
          <p:cNvPr id="11" name="">
            <a:extLst xmlns:a="http://schemas.openxmlformats.org/drawingml/2006/main">
              <a:ext uri="{FF2B5EF4-FFF2-40B4-BE49-F238E27FC236}">
                <a16:creationId xmlns:a16="http://schemas.microsoft.com/office/drawing/2014/main" id="{57E09ABE-AD24-477D-9D43-3700AE8EADCD}"/>
              </a:ext>
            </a:extLst>
          </p:cNvPr>
          <p:cNvCxnSpPr>
            <a:stCxn xmlns:a="http://schemas.openxmlformats.org/drawingml/2006/main" id="4" idx="3"/>
            <a:endCxn xmlns:a="http://schemas.openxmlformats.org/drawingml/2006/main" id="5" idx="1"/>
          </p:cNvCxnSpPr>
          <p:nvPr/>
        </p:nvCxnSpPr>
        <p:spPr>
          <a:xfrm xmlns:a="http://schemas.openxmlformats.org/drawingml/2006/main" flipV="1">
            <a:off x="3352800" y="2638425"/>
            <a:ext cx="723900" cy="4763"/>
          </a:xfrm>
          <a:prstGeom xmlns:a="http://schemas.openxmlformats.org/drawingml/2006/main" prst="straightConnector1">
            <a:avLst/>
          </a:prstGeom>
          <a:ln xmlns:a="http://schemas.openxmlformats.org/drawingml/2006/main" w="19050">
            <a:solidFill>
              <a:srgbClr val="11838A"/>
            </a:solidFill>
            <a:tailEnd type="triangle" w="med" len="med"/>
          </a:ln>
        </p:spPr>
      </p:cxnSp>
      <p:sp>
        <p:nvSpPr>
          <p:cNvPr id="18" name="slide-title">
            <a:extLst xmlns:a="http://schemas.openxmlformats.org/drawingml/2006/main">
              <a:ext uri="{FF2B5EF4-FFF2-40B4-BE49-F238E27FC236}">
                <a16:creationId xmlns:a16="http://schemas.microsoft.com/office/drawing/2014/main" id="{12E468B6-678C-4343-9149-2B66618FDE03}"/>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Model and input features</a:t>
            </a:r>
          </a:p>
        </p:txBody>
      </p:sp>
      <p:sp>
        <p:nvSpPr>
          <p:cNvPr id="2" name="page-number">
            <a:extLst xmlns:a="http://schemas.openxmlformats.org/drawingml/2006/main">
              <a:ext uri="{FF2B5EF4-FFF2-40B4-BE49-F238E27FC236}">
                <a16:creationId xmlns:a16="http://schemas.microsoft.com/office/drawing/2014/main" id="{69531B21-A527-410C-9869-AEB409825A5A}"/>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05</a:t>
            </a:r>
          </a:p>
        </p:txBody>
      </p:sp>
      <p:sp>
        <p:nvSpPr>
          <p:cNvPr id="3" name="model-subtitle">
            <a:extLst xmlns:a="http://schemas.openxmlformats.org/drawingml/2006/main">
              <a:ext uri="{FF2B5EF4-FFF2-40B4-BE49-F238E27FC236}">
                <a16:creationId xmlns:a16="http://schemas.microsoft.com/office/drawing/2014/main" id="{D48ABEE2-6876-4CF3-8E8A-112BF5708E3C}"/>
              </a:ext>
            </a:extLst>
          </p:cNvPr>
          <p:cNvSpPr>
            <a:spLocks xmlns:a="http://schemas.openxmlformats.org/drawingml/2006/main" noGrp="1"/>
          </p:cNvSpPr>
          <p:nvPr/>
        </p:nvSpPr>
        <p:spPr>
          <a:xfrm xmlns:a="http://schemas.openxmlformats.org/drawingml/2006/main">
            <a:off x="685800" y="13430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83340"/>
                </a:solidFill>
                <a:latin typeface="Arial"/>
                <a:ea typeface="Arial"/>
                <a:cs typeface="Arial"/>
              </a:defRPr>
            </a:defPPr>
            <a:lvl1pPr>
              <a:defRPr sz="2175">
                <a:solidFill>
                  <a:srgbClr val="183340"/>
                </a:solidFill>
                <a:latin typeface="Arial"/>
                <a:ea typeface="Arial"/>
                <a:cs typeface="Arial"/>
              </a:defRPr>
            </a:lvl1pPr>
            <a:lvl2pPr>
              <a:defRPr sz="2175">
                <a:solidFill>
                  <a:srgbClr val="183340"/>
                </a:solidFill>
                <a:latin typeface="Arial"/>
                <a:ea typeface="Arial"/>
                <a:cs typeface="Arial"/>
              </a:defRPr>
            </a:lvl2pPr>
            <a:lvl3pPr>
              <a:defRPr sz="2175">
                <a:solidFill>
                  <a:srgbClr val="183340"/>
                </a:solidFill>
                <a:latin typeface="Arial"/>
                <a:ea typeface="Arial"/>
                <a:cs typeface="Arial"/>
              </a:defRPr>
            </a:lvl3pPr>
            <a:lvl4pPr>
              <a:defRPr sz="2175">
                <a:solidFill>
                  <a:srgbClr val="183340"/>
                </a:solidFill>
                <a:latin typeface="Arial"/>
                <a:ea typeface="Arial"/>
                <a:cs typeface="Arial"/>
              </a:defRPr>
            </a:lvl4pPr>
            <a:lvl5pPr>
              <a:defRPr sz="2175">
                <a:solidFill>
                  <a:srgbClr val="183340"/>
                </a:solidFill>
                <a:latin typeface="Arial"/>
                <a:ea typeface="Arial"/>
                <a:cs typeface="Arial"/>
              </a:defRPr>
            </a:lvl5pPr>
            <a:lvl6pPr>
              <a:defRPr sz="2175">
                <a:solidFill>
                  <a:srgbClr val="183340"/>
                </a:solidFill>
                <a:latin typeface="Arial"/>
                <a:ea typeface="Arial"/>
                <a:cs typeface="Arial"/>
              </a:defRPr>
            </a:lvl6pPr>
            <a:lvl7pPr>
              <a:defRPr sz="2175">
                <a:solidFill>
                  <a:srgbClr val="183340"/>
                </a:solidFill>
                <a:latin typeface="Arial"/>
                <a:ea typeface="Arial"/>
                <a:cs typeface="Arial"/>
              </a:defRPr>
            </a:lvl7pPr>
            <a:lvl8pPr>
              <a:defRPr sz="2175">
                <a:solidFill>
                  <a:srgbClr val="183340"/>
                </a:solidFill>
                <a:latin typeface="Arial"/>
                <a:ea typeface="Arial"/>
                <a:cs typeface="Arial"/>
              </a:defRPr>
            </a:lvl8pPr>
            <a:lvl9pPr>
              <a:defRPr sz="2175">
                <a:solidFill>
                  <a:srgbClr val="183340"/>
                </a:solidFill>
                <a:latin typeface="Arial"/>
                <a:ea typeface="Arial"/>
                <a:cs typeface="Arial"/>
              </a:defRPr>
            </a:lvl9pPr>
          </a:lstStyle>
          <a:p xmlns:a="http://schemas.openxmlformats.org/drawingml/2006/main">
            <a:pPr>
              <a:defRPr sz="2175">
                <a:solidFill>
                  <a:srgbClr val="183340"/>
                </a:solidFill>
                <a:latin typeface="Arial"/>
                <a:ea typeface="Arial"/>
                <a:cs typeface="Arial"/>
              </a:defRPr>
            </a:pPr>
            <a:r>
              <a:rPr sz="2175">
                <a:solidFill>
                  <a:srgbClr val="183340"/>
                </a:solidFill>
                <a:latin typeface="Arial"/>
                <a:ea typeface="Arial"/>
                <a:cs typeface="Arial"/>
              </a:rPr>
              <a:t>Three input branches feed a single volume regression output.</a:t>
            </a:r>
          </a:p>
        </p:txBody>
      </p:sp>
      <p:sp>
        <p:nvSpPr>
          <p:cNvPr id="4" name="15 bars x 5 features">
            <a:extLst xmlns:a="http://schemas.openxmlformats.org/drawingml/2006/main">
              <a:ext uri="{FF2B5EF4-FFF2-40B4-BE49-F238E27FC236}">
                <a16:creationId xmlns:a16="http://schemas.microsoft.com/office/drawing/2014/main" id="{FFB6CC51-7234-4984-91CF-85AE6911C9AC}"/>
              </a:ext>
            </a:extLst>
          </p:cNvPr>
          <p:cNvSpPr>
            <a:spLocks xmlns:a="http://schemas.openxmlformats.org/drawingml/2006/main" noGrp="1"/>
          </p:cNvSpPr>
          <p:nvPr/>
        </p:nvSpPr>
        <p:spPr>
          <a:xfrm xmlns:a="http://schemas.openxmlformats.org/drawingml/2006/main">
            <a:off x="685800" y="2190750"/>
            <a:ext cx="2667000" cy="904875"/>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15 bars x 5 features</a:t>
            </a:r>
          </a:p>
        </p:txBody>
      </p:sp>
      <p:sp>
        <p:nvSpPr>
          <p:cNvPr id="5" name="Conv1D 64 / 32 Layer normalization Flatten">
            <a:extLst xmlns:a="http://schemas.openxmlformats.org/drawingml/2006/main">
              <a:ext uri="{FF2B5EF4-FFF2-40B4-BE49-F238E27FC236}">
                <a16:creationId xmlns:a16="http://schemas.microsoft.com/office/drawing/2014/main" id="{12C96277-DD8A-4BC6-9DEA-71A90F0483AD}"/>
              </a:ext>
            </a:extLst>
          </p:cNvPr>
          <p:cNvSpPr>
            <a:spLocks xmlns:a="http://schemas.openxmlformats.org/drawingml/2006/main" noGrp="1"/>
          </p:cNvSpPr>
          <p:nvPr/>
        </p:nvSpPr>
        <p:spPr>
          <a:xfrm xmlns:a="http://schemas.openxmlformats.org/drawingml/2006/main">
            <a:off x="4076700" y="2019300"/>
            <a:ext cx="2857500" cy="12382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00">
                <a:solidFill>
                  <a:srgbClr val="183340"/>
                </a:solidFill>
                <a:latin typeface="Arial"/>
                <a:ea typeface="Arial"/>
                <a:cs typeface="Arial"/>
              </a:defRPr>
            </a:defPPr>
            <a:lvl1pPr algn="ctr">
              <a:defRPr sz="1800">
                <a:solidFill>
                  <a:srgbClr val="183340"/>
                </a:solidFill>
                <a:latin typeface="Arial"/>
                <a:ea typeface="Arial"/>
                <a:cs typeface="Arial"/>
              </a:defRPr>
            </a:lvl1pPr>
            <a:lvl2pPr algn="ctr">
              <a:defRPr sz="1800">
                <a:solidFill>
                  <a:srgbClr val="183340"/>
                </a:solidFill>
                <a:latin typeface="Arial"/>
                <a:ea typeface="Arial"/>
                <a:cs typeface="Arial"/>
              </a:defRPr>
            </a:lvl2pPr>
            <a:lvl3pPr algn="ctr">
              <a:defRPr sz="1800">
                <a:solidFill>
                  <a:srgbClr val="183340"/>
                </a:solidFill>
                <a:latin typeface="Arial"/>
                <a:ea typeface="Arial"/>
                <a:cs typeface="Arial"/>
              </a:defRPr>
            </a:lvl3pPr>
            <a:lvl4pPr algn="ctr">
              <a:defRPr sz="1800">
                <a:solidFill>
                  <a:srgbClr val="183340"/>
                </a:solidFill>
                <a:latin typeface="Arial"/>
                <a:ea typeface="Arial"/>
                <a:cs typeface="Arial"/>
              </a:defRPr>
            </a:lvl4pPr>
            <a:lvl5pPr algn="ctr">
              <a:defRPr sz="1800">
                <a:solidFill>
                  <a:srgbClr val="183340"/>
                </a:solidFill>
                <a:latin typeface="Arial"/>
                <a:ea typeface="Arial"/>
                <a:cs typeface="Arial"/>
              </a:defRPr>
            </a:lvl5pPr>
            <a:lvl6pPr algn="ctr">
              <a:defRPr sz="1800">
                <a:solidFill>
                  <a:srgbClr val="183340"/>
                </a:solidFill>
                <a:latin typeface="Arial"/>
                <a:ea typeface="Arial"/>
                <a:cs typeface="Arial"/>
              </a:defRPr>
            </a:lvl6pPr>
            <a:lvl7pPr algn="ctr">
              <a:defRPr sz="1800">
                <a:solidFill>
                  <a:srgbClr val="183340"/>
                </a:solidFill>
                <a:latin typeface="Arial"/>
                <a:ea typeface="Arial"/>
                <a:cs typeface="Arial"/>
              </a:defRPr>
            </a:lvl7pPr>
            <a:lvl8pPr algn="ctr">
              <a:defRPr sz="1800">
                <a:solidFill>
                  <a:srgbClr val="183340"/>
                </a:solidFill>
                <a:latin typeface="Arial"/>
                <a:ea typeface="Arial"/>
                <a:cs typeface="Arial"/>
              </a:defRPr>
            </a:lvl8pPr>
            <a:lvl9pPr algn="ctr">
              <a:defRPr sz="1800">
                <a:solidFill>
                  <a:srgbClr val="183340"/>
                </a:solidFill>
                <a:latin typeface="Arial"/>
                <a:ea typeface="Arial"/>
                <a:cs typeface="Arial"/>
              </a:defRPr>
            </a:lvl9pPr>
          </a:lstStyle>
          <a:p xmlns:a="http://schemas.openxmlformats.org/drawingml/2006/main">
            <a:pPr algn="ctr">
              <a:defRPr sz="1800">
                <a:solidFill>
                  <a:srgbClr val="183340"/>
                </a:solidFill>
                <a:latin typeface="Arial"/>
                <a:ea typeface="Arial"/>
                <a:cs typeface="Arial"/>
              </a:defRPr>
            </a:pPr>
            <a:r>
              <a:rPr sz="1800">
                <a:solidFill>
                  <a:srgbClr val="183340"/>
                </a:solidFill>
                <a:latin typeface="Arial"/>
                <a:ea typeface="Arial"/>
                <a:cs typeface="Arial"/>
              </a:rPr>
              <a:t>Conv1D 64 / 32</a:t>
            </a:r>
          </a:p>
          <a:p xmlns:a="http://schemas.openxmlformats.org/drawingml/2006/main">
            <a:pPr algn="ctr">
              <a:defRPr sz="1800">
                <a:solidFill>
                  <a:srgbClr val="183340"/>
                </a:solidFill>
                <a:latin typeface="Arial"/>
                <a:ea typeface="Arial"/>
                <a:cs typeface="Arial"/>
              </a:defRPr>
            </a:pPr>
            <a:r>
              <a:rPr sz="1800">
                <a:solidFill>
                  <a:srgbClr val="183340"/>
                </a:solidFill>
                <a:latin typeface="Arial"/>
                <a:ea typeface="Arial"/>
                <a:cs typeface="Arial"/>
              </a:rPr>
              <a:t>Layer normalization</a:t>
            </a:r>
          </a:p>
          <a:p xmlns:a="http://schemas.openxmlformats.org/drawingml/2006/main">
            <a:pPr algn="ctr">
              <a:defRPr sz="1800">
                <a:solidFill>
                  <a:srgbClr val="183340"/>
                </a:solidFill>
                <a:latin typeface="Arial"/>
                <a:ea typeface="Arial"/>
                <a:cs typeface="Arial"/>
              </a:defRPr>
            </a:pPr>
            <a:r>
              <a:rPr sz="1800">
                <a:solidFill>
                  <a:srgbClr val="183340"/>
                </a:solidFill>
                <a:latin typeface="Arial"/>
                <a:ea typeface="Arial"/>
                <a:cs typeface="Arial"/>
              </a:rPr>
              <a:t>Flatten</a:t>
            </a:r>
          </a:p>
        </p:txBody>
      </p:sp>
      <p:sp>
        <p:nvSpPr>
          <p:cNvPr id="6" name="6 context summaries">
            <a:extLst xmlns:a="http://schemas.openxmlformats.org/drawingml/2006/main">
              <a:ext uri="{FF2B5EF4-FFF2-40B4-BE49-F238E27FC236}">
                <a16:creationId xmlns:a16="http://schemas.microsoft.com/office/drawing/2014/main" id="{4EA48834-13E1-4BC4-957C-1D23F7BB3EC3}"/>
              </a:ext>
            </a:extLst>
          </p:cNvPr>
          <p:cNvSpPr>
            <a:spLocks xmlns:a="http://schemas.openxmlformats.org/drawingml/2006/main" noGrp="1"/>
          </p:cNvSpPr>
          <p:nvPr/>
        </p:nvSpPr>
        <p:spPr>
          <a:xfrm xmlns:a="http://schemas.openxmlformats.org/drawingml/2006/main">
            <a:off x="685800" y="3667125"/>
            <a:ext cx="2667000" cy="904875"/>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6 context summaries</a:t>
            </a:r>
          </a:p>
        </p:txBody>
      </p:sp>
      <p:sp>
        <p:nvSpPr>
          <p:cNvPr id="7" name="Dense 32 Layer normalization">
            <a:extLst xmlns:a="http://schemas.openxmlformats.org/drawingml/2006/main">
              <a:ext uri="{FF2B5EF4-FFF2-40B4-BE49-F238E27FC236}">
                <a16:creationId xmlns:a16="http://schemas.microsoft.com/office/drawing/2014/main" id="{F1D80F97-E4CB-416C-8BE7-B6F72F5D1EB1}"/>
              </a:ext>
            </a:extLst>
          </p:cNvPr>
          <p:cNvSpPr>
            <a:spLocks xmlns:a="http://schemas.openxmlformats.org/drawingml/2006/main" noGrp="1"/>
          </p:cNvSpPr>
          <p:nvPr/>
        </p:nvSpPr>
        <p:spPr>
          <a:xfrm xmlns:a="http://schemas.openxmlformats.org/drawingml/2006/main">
            <a:off x="4076700" y="3667125"/>
            <a:ext cx="2857500" cy="904875"/>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00">
                <a:solidFill>
                  <a:srgbClr val="183340"/>
                </a:solidFill>
                <a:latin typeface="Arial"/>
                <a:ea typeface="Arial"/>
                <a:cs typeface="Arial"/>
              </a:defRPr>
            </a:defPPr>
            <a:lvl1pPr algn="ctr">
              <a:defRPr sz="1800">
                <a:solidFill>
                  <a:srgbClr val="183340"/>
                </a:solidFill>
                <a:latin typeface="Arial"/>
                <a:ea typeface="Arial"/>
                <a:cs typeface="Arial"/>
              </a:defRPr>
            </a:lvl1pPr>
            <a:lvl2pPr algn="ctr">
              <a:defRPr sz="1800">
                <a:solidFill>
                  <a:srgbClr val="183340"/>
                </a:solidFill>
                <a:latin typeface="Arial"/>
                <a:ea typeface="Arial"/>
                <a:cs typeface="Arial"/>
              </a:defRPr>
            </a:lvl2pPr>
            <a:lvl3pPr algn="ctr">
              <a:defRPr sz="1800">
                <a:solidFill>
                  <a:srgbClr val="183340"/>
                </a:solidFill>
                <a:latin typeface="Arial"/>
                <a:ea typeface="Arial"/>
                <a:cs typeface="Arial"/>
              </a:defRPr>
            </a:lvl3pPr>
            <a:lvl4pPr algn="ctr">
              <a:defRPr sz="1800">
                <a:solidFill>
                  <a:srgbClr val="183340"/>
                </a:solidFill>
                <a:latin typeface="Arial"/>
                <a:ea typeface="Arial"/>
                <a:cs typeface="Arial"/>
              </a:defRPr>
            </a:lvl4pPr>
            <a:lvl5pPr algn="ctr">
              <a:defRPr sz="1800">
                <a:solidFill>
                  <a:srgbClr val="183340"/>
                </a:solidFill>
                <a:latin typeface="Arial"/>
                <a:ea typeface="Arial"/>
                <a:cs typeface="Arial"/>
              </a:defRPr>
            </a:lvl5pPr>
            <a:lvl6pPr algn="ctr">
              <a:defRPr sz="1800">
                <a:solidFill>
                  <a:srgbClr val="183340"/>
                </a:solidFill>
                <a:latin typeface="Arial"/>
                <a:ea typeface="Arial"/>
                <a:cs typeface="Arial"/>
              </a:defRPr>
            </a:lvl6pPr>
            <a:lvl7pPr algn="ctr">
              <a:defRPr sz="1800">
                <a:solidFill>
                  <a:srgbClr val="183340"/>
                </a:solidFill>
                <a:latin typeface="Arial"/>
                <a:ea typeface="Arial"/>
                <a:cs typeface="Arial"/>
              </a:defRPr>
            </a:lvl7pPr>
            <a:lvl8pPr algn="ctr">
              <a:defRPr sz="1800">
                <a:solidFill>
                  <a:srgbClr val="183340"/>
                </a:solidFill>
                <a:latin typeface="Arial"/>
                <a:ea typeface="Arial"/>
                <a:cs typeface="Arial"/>
              </a:defRPr>
            </a:lvl8pPr>
            <a:lvl9pPr algn="ctr">
              <a:defRPr sz="1800">
                <a:solidFill>
                  <a:srgbClr val="183340"/>
                </a:solidFill>
                <a:latin typeface="Arial"/>
                <a:ea typeface="Arial"/>
                <a:cs typeface="Arial"/>
              </a:defRPr>
            </a:lvl9pPr>
          </a:lstStyle>
          <a:p xmlns:a="http://schemas.openxmlformats.org/drawingml/2006/main">
            <a:pPr algn="ctr">
              <a:defRPr sz="1800">
                <a:solidFill>
                  <a:srgbClr val="183340"/>
                </a:solidFill>
                <a:latin typeface="Arial"/>
                <a:ea typeface="Arial"/>
                <a:cs typeface="Arial"/>
              </a:defRPr>
            </a:pPr>
            <a:r>
              <a:rPr sz="1800">
                <a:solidFill>
                  <a:srgbClr val="183340"/>
                </a:solidFill>
                <a:latin typeface="Arial"/>
                <a:ea typeface="Arial"/>
                <a:cs typeface="Arial"/>
              </a:rPr>
              <a:t>Dense 32</a:t>
            </a:r>
          </a:p>
          <a:p xmlns:a="http://schemas.openxmlformats.org/drawingml/2006/main">
            <a:pPr algn="ctr">
              <a:defRPr sz="1800">
                <a:solidFill>
                  <a:srgbClr val="183340"/>
                </a:solidFill>
                <a:latin typeface="Arial"/>
                <a:ea typeface="Arial"/>
                <a:cs typeface="Arial"/>
              </a:defRPr>
            </a:pPr>
            <a:r>
              <a:rPr sz="1800">
                <a:solidFill>
                  <a:srgbClr val="183340"/>
                </a:solidFill>
                <a:latin typeface="Arial"/>
                <a:ea typeface="Arial"/>
                <a:cs typeface="Arial"/>
              </a:rPr>
              <a:t>Layer normalization</a:t>
            </a:r>
          </a:p>
        </p:txBody>
      </p:sp>
      <p:sp>
        <p:nvSpPr>
          <p:cNvPr id="8" name="Instrument ID">
            <a:extLst xmlns:a="http://schemas.openxmlformats.org/drawingml/2006/main">
              <a:ext uri="{FF2B5EF4-FFF2-40B4-BE49-F238E27FC236}">
                <a16:creationId xmlns:a16="http://schemas.microsoft.com/office/drawing/2014/main" id="{590BB85F-1752-4A59-A603-F42DFF075B49}"/>
              </a:ext>
            </a:extLst>
          </p:cNvPr>
          <p:cNvSpPr>
            <a:spLocks xmlns:a="http://schemas.openxmlformats.org/drawingml/2006/main" noGrp="1"/>
          </p:cNvSpPr>
          <p:nvPr/>
        </p:nvSpPr>
        <p:spPr>
          <a:xfrm xmlns:a="http://schemas.openxmlformats.org/drawingml/2006/main">
            <a:off x="685800" y="5048250"/>
            <a:ext cx="2667000" cy="7810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75">
                <a:solidFill>
                  <a:srgbClr val="183340"/>
                </a:solidFill>
                <a:latin typeface="Arial"/>
                <a:ea typeface="Arial"/>
                <a:cs typeface="Arial"/>
              </a:defRPr>
            </a:defPPr>
            <a:lvl1pPr algn="ctr">
              <a:defRPr sz="1875">
                <a:solidFill>
                  <a:srgbClr val="183340"/>
                </a:solidFill>
                <a:latin typeface="Arial"/>
                <a:ea typeface="Arial"/>
                <a:cs typeface="Arial"/>
              </a:defRPr>
            </a:lvl1pPr>
            <a:lvl2pPr algn="ctr">
              <a:defRPr sz="1875">
                <a:solidFill>
                  <a:srgbClr val="183340"/>
                </a:solidFill>
                <a:latin typeface="Arial"/>
                <a:ea typeface="Arial"/>
                <a:cs typeface="Arial"/>
              </a:defRPr>
            </a:lvl2pPr>
            <a:lvl3pPr algn="ctr">
              <a:defRPr sz="1875">
                <a:solidFill>
                  <a:srgbClr val="183340"/>
                </a:solidFill>
                <a:latin typeface="Arial"/>
                <a:ea typeface="Arial"/>
                <a:cs typeface="Arial"/>
              </a:defRPr>
            </a:lvl3pPr>
            <a:lvl4pPr algn="ctr">
              <a:defRPr sz="1875">
                <a:solidFill>
                  <a:srgbClr val="183340"/>
                </a:solidFill>
                <a:latin typeface="Arial"/>
                <a:ea typeface="Arial"/>
                <a:cs typeface="Arial"/>
              </a:defRPr>
            </a:lvl4pPr>
            <a:lvl5pPr algn="ctr">
              <a:defRPr sz="1875">
                <a:solidFill>
                  <a:srgbClr val="183340"/>
                </a:solidFill>
                <a:latin typeface="Arial"/>
                <a:ea typeface="Arial"/>
                <a:cs typeface="Arial"/>
              </a:defRPr>
            </a:lvl5pPr>
            <a:lvl6pPr algn="ctr">
              <a:defRPr sz="1875">
                <a:solidFill>
                  <a:srgbClr val="183340"/>
                </a:solidFill>
                <a:latin typeface="Arial"/>
                <a:ea typeface="Arial"/>
                <a:cs typeface="Arial"/>
              </a:defRPr>
            </a:lvl6pPr>
            <a:lvl7pPr algn="ctr">
              <a:defRPr sz="1875">
                <a:solidFill>
                  <a:srgbClr val="183340"/>
                </a:solidFill>
                <a:latin typeface="Arial"/>
                <a:ea typeface="Arial"/>
                <a:cs typeface="Arial"/>
              </a:defRPr>
            </a:lvl7pPr>
            <a:lvl8pPr algn="ctr">
              <a:defRPr sz="1875">
                <a:solidFill>
                  <a:srgbClr val="183340"/>
                </a:solidFill>
                <a:latin typeface="Arial"/>
                <a:ea typeface="Arial"/>
                <a:cs typeface="Arial"/>
              </a:defRPr>
            </a:lvl8pPr>
            <a:lvl9pPr algn="ctr">
              <a:defRPr sz="1875">
                <a:solidFill>
                  <a:srgbClr val="183340"/>
                </a:solidFill>
                <a:latin typeface="Arial"/>
                <a:ea typeface="Arial"/>
                <a:cs typeface="Arial"/>
              </a:defRPr>
            </a:lvl9pPr>
          </a:lstStyle>
          <a:p xmlns:a="http://schemas.openxmlformats.org/drawingml/2006/main">
            <a:pPr algn="ctr">
              <a:defRPr sz="1875">
                <a:solidFill>
                  <a:srgbClr val="183340"/>
                </a:solidFill>
                <a:latin typeface="Arial"/>
                <a:ea typeface="Arial"/>
                <a:cs typeface="Arial"/>
              </a:defRPr>
            </a:pPr>
            <a:r>
              <a:rPr sz="1875">
                <a:solidFill>
                  <a:srgbClr val="183340"/>
                </a:solidFill>
                <a:latin typeface="Arial"/>
                <a:ea typeface="Arial"/>
                <a:cs typeface="Arial"/>
              </a:rPr>
              <a:t>Instrument ID</a:t>
            </a:r>
          </a:p>
        </p:txBody>
      </p:sp>
      <p:sp>
        <p:nvSpPr>
          <p:cNvPr id="9" name="Embedding dimension 8">
            <a:extLst xmlns:a="http://schemas.openxmlformats.org/drawingml/2006/main">
              <a:ext uri="{FF2B5EF4-FFF2-40B4-BE49-F238E27FC236}">
                <a16:creationId xmlns:a16="http://schemas.microsoft.com/office/drawing/2014/main" id="{A6FA3E71-D62B-4224-8F45-1B63BD22AF28}"/>
              </a:ext>
            </a:extLst>
          </p:cNvPr>
          <p:cNvSpPr>
            <a:spLocks xmlns:a="http://schemas.openxmlformats.org/drawingml/2006/main" noGrp="1"/>
          </p:cNvSpPr>
          <p:nvPr/>
        </p:nvSpPr>
        <p:spPr>
          <a:xfrm xmlns:a="http://schemas.openxmlformats.org/drawingml/2006/main">
            <a:off x="4076700" y="5048250"/>
            <a:ext cx="2857500" cy="781050"/>
          </a:xfrm>
          <a:prstGeom xmlns:a="http://schemas.openxmlformats.org/drawingml/2006/main" prst="rect">
            <a:avLst/>
          </a:prstGeom>
          <a:solidFill xmlns:a="http://schemas.openxmlformats.org/drawingml/2006/main">
            <a:srgbClr val="ECF6F5"/>
          </a:solidFill>
          <a:ln xmlns:a="http://schemas.openxmlformats.org/drawingml/2006/main" w="14288">
            <a:solidFill>
              <a:srgbClr val="11838A"/>
            </a:solidFill>
          </a:ln>
        </p:spPr>
        <p:txBody>
          <a:bodyPr xmlns:a="http://schemas.openxmlformats.org/drawingml/2006/main" lIns="133350" tIns="133350" rIns="133350" bIns="133350" anchor="ctr">
            <a:noAutofit/>
          </a:bodyPr>
          <a:lstStyle xmlns:a="http://schemas.openxmlformats.org/drawingml/2006/main">
            <a:defPPr algn="ctr">
              <a:defRPr sz="1800">
                <a:solidFill>
                  <a:srgbClr val="183340"/>
                </a:solidFill>
                <a:latin typeface="Arial"/>
                <a:ea typeface="Arial"/>
                <a:cs typeface="Arial"/>
              </a:defRPr>
            </a:defPPr>
            <a:lvl1pPr algn="ctr">
              <a:defRPr sz="1800">
                <a:solidFill>
                  <a:srgbClr val="183340"/>
                </a:solidFill>
                <a:latin typeface="Arial"/>
                <a:ea typeface="Arial"/>
                <a:cs typeface="Arial"/>
              </a:defRPr>
            </a:lvl1pPr>
            <a:lvl2pPr algn="ctr">
              <a:defRPr sz="1800">
                <a:solidFill>
                  <a:srgbClr val="183340"/>
                </a:solidFill>
                <a:latin typeface="Arial"/>
                <a:ea typeface="Arial"/>
                <a:cs typeface="Arial"/>
              </a:defRPr>
            </a:lvl2pPr>
            <a:lvl3pPr algn="ctr">
              <a:defRPr sz="1800">
                <a:solidFill>
                  <a:srgbClr val="183340"/>
                </a:solidFill>
                <a:latin typeface="Arial"/>
                <a:ea typeface="Arial"/>
                <a:cs typeface="Arial"/>
              </a:defRPr>
            </a:lvl3pPr>
            <a:lvl4pPr algn="ctr">
              <a:defRPr sz="1800">
                <a:solidFill>
                  <a:srgbClr val="183340"/>
                </a:solidFill>
                <a:latin typeface="Arial"/>
                <a:ea typeface="Arial"/>
                <a:cs typeface="Arial"/>
              </a:defRPr>
            </a:lvl4pPr>
            <a:lvl5pPr algn="ctr">
              <a:defRPr sz="1800">
                <a:solidFill>
                  <a:srgbClr val="183340"/>
                </a:solidFill>
                <a:latin typeface="Arial"/>
                <a:ea typeface="Arial"/>
                <a:cs typeface="Arial"/>
              </a:defRPr>
            </a:lvl5pPr>
            <a:lvl6pPr algn="ctr">
              <a:defRPr sz="1800">
                <a:solidFill>
                  <a:srgbClr val="183340"/>
                </a:solidFill>
                <a:latin typeface="Arial"/>
                <a:ea typeface="Arial"/>
                <a:cs typeface="Arial"/>
              </a:defRPr>
            </a:lvl6pPr>
            <a:lvl7pPr algn="ctr">
              <a:defRPr sz="1800">
                <a:solidFill>
                  <a:srgbClr val="183340"/>
                </a:solidFill>
                <a:latin typeface="Arial"/>
                <a:ea typeface="Arial"/>
                <a:cs typeface="Arial"/>
              </a:defRPr>
            </a:lvl7pPr>
            <a:lvl8pPr algn="ctr">
              <a:defRPr sz="1800">
                <a:solidFill>
                  <a:srgbClr val="183340"/>
                </a:solidFill>
                <a:latin typeface="Arial"/>
                <a:ea typeface="Arial"/>
                <a:cs typeface="Arial"/>
              </a:defRPr>
            </a:lvl8pPr>
            <a:lvl9pPr algn="ctr">
              <a:defRPr sz="1800">
                <a:solidFill>
                  <a:srgbClr val="183340"/>
                </a:solidFill>
                <a:latin typeface="Arial"/>
                <a:ea typeface="Arial"/>
                <a:cs typeface="Arial"/>
              </a:defRPr>
            </a:lvl9pPr>
          </a:lstStyle>
          <a:p xmlns:a="http://schemas.openxmlformats.org/drawingml/2006/main">
            <a:pPr algn="ctr">
              <a:defRPr sz="1800">
                <a:solidFill>
                  <a:srgbClr val="183340"/>
                </a:solidFill>
                <a:latin typeface="Arial"/>
                <a:ea typeface="Arial"/>
                <a:cs typeface="Arial"/>
              </a:defRPr>
            </a:pPr>
            <a:r>
              <a:rPr sz="1800">
                <a:solidFill>
                  <a:srgbClr val="183340"/>
                </a:solidFill>
                <a:latin typeface="Arial"/>
                <a:ea typeface="Arial"/>
                <a:cs typeface="Arial"/>
              </a:rPr>
              <a:t>Embedding dimension 8</a:t>
            </a:r>
          </a:p>
        </p:txBody>
      </p:sp>
      <p:sp>
        <p:nvSpPr>
          <p:cNvPr id="10" name="Concatenate Dropout 0.2 Dense 128 / 64 One output">
            <a:extLst xmlns:a="http://schemas.openxmlformats.org/drawingml/2006/main">
              <a:ext uri="{FF2B5EF4-FFF2-40B4-BE49-F238E27FC236}">
                <a16:creationId xmlns:a16="http://schemas.microsoft.com/office/drawing/2014/main" id="{89406A8C-5171-48F7-B738-A36C51FFD80B}"/>
              </a:ext>
            </a:extLst>
          </p:cNvPr>
          <p:cNvSpPr>
            <a:spLocks xmlns:a="http://schemas.openxmlformats.org/drawingml/2006/main" noGrp="1"/>
          </p:cNvSpPr>
          <p:nvPr/>
        </p:nvSpPr>
        <p:spPr>
          <a:xfrm xmlns:a="http://schemas.openxmlformats.org/drawingml/2006/main">
            <a:off x="8229600" y="2952750"/>
            <a:ext cx="3276600" cy="2381250"/>
          </a:xfrm>
          <a:prstGeom xmlns:a="http://schemas.openxmlformats.org/drawingml/2006/main" prst="rect">
            <a:avLst/>
          </a:prstGeom>
          <a:solidFill xmlns:a="http://schemas.openxmlformats.org/drawingml/2006/main">
            <a:srgbClr val="17323F"/>
          </a:solidFill>
          <a:ln xmlns:a="http://schemas.openxmlformats.org/drawingml/2006/main" w="14288">
            <a:solidFill>
              <a:srgbClr val="17323F"/>
            </a:solidFill>
          </a:ln>
        </p:spPr>
        <p:txBody>
          <a:bodyPr xmlns:a="http://schemas.openxmlformats.org/drawingml/2006/main" lIns="133350" tIns="133350" rIns="133350" bIns="133350" anchor="ctr">
            <a:noAutofit/>
          </a:bodyPr>
          <a:lstStyle xmlns:a="http://schemas.openxmlformats.org/drawingml/2006/main">
            <a:defPPr algn="ctr">
              <a:defRPr sz="2100">
                <a:solidFill>
                  <a:srgbClr val="FFFFFF"/>
                </a:solidFill>
                <a:latin typeface="Arial"/>
                <a:ea typeface="Arial"/>
                <a:cs typeface="Arial"/>
              </a:defRPr>
            </a:defPPr>
            <a:lvl1pPr algn="ctr">
              <a:defRPr sz="2100">
                <a:solidFill>
                  <a:srgbClr val="FFFFFF"/>
                </a:solidFill>
                <a:latin typeface="Arial"/>
                <a:ea typeface="Arial"/>
                <a:cs typeface="Arial"/>
              </a:defRPr>
            </a:lvl1pPr>
            <a:lvl2pPr algn="ctr">
              <a:defRPr sz="2100">
                <a:solidFill>
                  <a:srgbClr val="FFFFFF"/>
                </a:solidFill>
                <a:latin typeface="Arial"/>
                <a:ea typeface="Arial"/>
                <a:cs typeface="Arial"/>
              </a:defRPr>
            </a:lvl2pPr>
            <a:lvl3pPr algn="ctr">
              <a:defRPr sz="2100">
                <a:solidFill>
                  <a:srgbClr val="FFFFFF"/>
                </a:solidFill>
                <a:latin typeface="Arial"/>
                <a:ea typeface="Arial"/>
                <a:cs typeface="Arial"/>
              </a:defRPr>
            </a:lvl3pPr>
            <a:lvl4pPr algn="ctr">
              <a:defRPr sz="2100">
                <a:solidFill>
                  <a:srgbClr val="FFFFFF"/>
                </a:solidFill>
                <a:latin typeface="Arial"/>
                <a:ea typeface="Arial"/>
                <a:cs typeface="Arial"/>
              </a:defRPr>
            </a:lvl4pPr>
            <a:lvl5pPr algn="ctr">
              <a:defRPr sz="2100">
                <a:solidFill>
                  <a:srgbClr val="FFFFFF"/>
                </a:solidFill>
                <a:latin typeface="Arial"/>
                <a:ea typeface="Arial"/>
                <a:cs typeface="Arial"/>
              </a:defRPr>
            </a:lvl5pPr>
            <a:lvl6pPr algn="ctr">
              <a:defRPr sz="2100">
                <a:solidFill>
                  <a:srgbClr val="FFFFFF"/>
                </a:solidFill>
                <a:latin typeface="Arial"/>
                <a:ea typeface="Arial"/>
                <a:cs typeface="Arial"/>
              </a:defRPr>
            </a:lvl6pPr>
            <a:lvl7pPr algn="ctr">
              <a:defRPr sz="2100">
                <a:solidFill>
                  <a:srgbClr val="FFFFFF"/>
                </a:solidFill>
                <a:latin typeface="Arial"/>
                <a:ea typeface="Arial"/>
                <a:cs typeface="Arial"/>
              </a:defRPr>
            </a:lvl7pPr>
            <a:lvl8pPr algn="ctr">
              <a:defRPr sz="2100">
                <a:solidFill>
                  <a:srgbClr val="FFFFFF"/>
                </a:solidFill>
                <a:latin typeface="Arial"/>
                <a:ea typeface="Arial"/>
                <a:cs typeface="Arial"/>
              </a:defRPr>
            </a:lvl8pPr>
            <a:lvl9pPr algn="ctr">
              <a:defRPr sz="2100">
                <a:solidFill>
                  <a:srgbClr val="FFFFFF"/>
                </a:solidFill>
                <a:latin typeface="Arial"/>
                <a:ea typeface="Arial"/>
                <a:cs typeface="Arial"/>
              </a:defRPr>
            </a:lvl9pPr>
          </a:lstStyle>
          <a:p xmlns:a="http://schemas.openxmlformats.org/drawingml/2006/main">
            <a:pPr algn="ctr">
              <a:defRPr sz="2100">
                <a:solidFill>
                  <a:srgbClr val="FFFFFF"/>
                </a:solidFill>
                <a:latin typeface="Arial"/>
                <a:ea typeface="Arial"/>
                <a:cs typeface="Arial"/>
              </a:defRPr>
            </a:pPr>
            <a:r>
              <a:rPr sz="2100">
                <a:solidFill>
                  <a:srgbClr val="FFFFFF"/>
                </a:solidFill>
                <a:latin typeface="Arial"/>
                <a:ea typeface="Arial"/>
                <a:cs typeface="Arial"/>
              </a:rPr>
              <a:t>Concatenate</a:t>
            </a:r>
          </a:p>
          <a:p xmlns:a="http://schemas.openxmlformats.org/drawingml/2006/main">
            <a:pPr algn="ctr">
              <a:defRPr sz="2100">
                <a:solidFill>
                  <a:srgbClr val="FFFFFF"/>
                </a:solidFill>
                <a:latin typeface="Arial"/>
                <a:ea typeface="Arial"/>
                <a:cs typeface="Arial"/>
              </a:defRPr>
            </a:pPr>
            <a:r>
              <a:rPr sz="2100">
                <a:solidFill>
                  <a:srgbClr val="FFFFFF"/>
                </a:solidFill>
                <a:latin typeface="Arial"/>
                <a:ea typeface="Arial"/>
                <a:cs typeface="Arial"/>
              </a:rPr>
              <a:t>Dropout 0.2</a:t>
            </a:r>
          </a:p>
          <a:p xmlns:a="http://schemas.openxmlformats.org/drawingml/2006/main">
            <a:pPr algn="ctr">
              <a:defRPr sz="2100">
                <a:solidFill>
                  <a:srgbClr val="FFFFFF"/>
                </a:solidFill>
                <a:latin typeface="Arial"/>
                <a:ea typeface="Arial"/>
                <a:cs typeface="Arial"/>
              </a:defRPr>
            </a:pPr>
            <a:r>
              <a:rPr sz="2100">
                <a:solidFill>
                  <a:srgbClr val="FFFFFF"/>
                </a:solidFill>
                <a:latin typeface="Arial"/>
                <a:ea typeface="Arial"/>
                <a:cs typeface="Arial"/>
              </a:rPr>
              <a:t>Dense 128 / 64</a:t>
            </a:r>
          </a:p>
          <a:p xmlns:a="http://schemas.openxmlformats.org/drawingml/2006/main">
            <a:pPr algn="ctr">
              <a:defRPr sz="2100">
                <a:solidFill>
                  <a:srgbClr val="FFFFFF"/>
                </a:solidFill>
                <a:latin typeface="Arial"/>
                <a:ea typeface="Arial"/>
                <a:cs typeface="Arial"/>
              </a:defRPr>
            </a:pPr>
            <a:r>
              <a:rPr sz="2100">
                <a:solidFill>
                  <a:srgbClr val="FFFFFF"/>
                </a:solidFill>
                <a:latin typeface="Arial"/>
                <a:ea typeface="Arial"/>
                <a:cs typeface="Arial"/>
              </a:rPr>
              <a:t>One output</a:t>
            </a:r>
          </a:p>
        </p:txBody>
      </p:sp>
      <p:sp>
        <p:nvSpPr>
          <p:cNvPr id="17" name="model-training">
            <a:extLst xmlns:a="http://schemas.openxmlformats.org/drawingml/2006/main">
              <a:ext uri="{FF2B5EF4-FFF2-40B4-BE49-F238E27FC236}">
                <a16:creationId xmlns:a16="http://schemas.microsoft.com/office/drawing/2014/main" id="{9FDA10B8-271C-462F-855E-2A4305CE410B}"/>
              </a:ext>
            </a:extLst>
          </p:cNvPr>
          <p:cNvSpPr>
            <a:spLocks xmlns:a="http://schemas.openxmlformats.org/drawingml/2006/main" noGrp="1"/>
          </p:cNvSpPr>
          <p:nvPr/>
        </p:nvSpPr>
        <p:spPr>
          <a:xfrm xmlns:a="http://schemas.openxmlformats.org/drawingml/2006/main">
            <a:off x="685800" y="6096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526875"/>
                </a:solidFill>
                <a:latin typeface="Arial"/>
                <a:ea typeface="Arial"/>
                <a:cs typeface="Arial"/>
              </a:defRPr>
            </a:defPPr>
            <a:lvl1pPr>
              <a:defRPr sz="1650">
                <a:solidFill>
                  <a:srgbClr val="526875"/>
                </a:solidFill>
                <a:latin typeface="Arial"/>
                <a:ea typeface="Arial"/>
                <a:cs typeface="Arial"/>
              </a:defRPr>
            </a:lvl1pPr>
            <a:lvl2pPr>
              <a:defRPr sz="1650">
                <a:solidFill>
                  <a:srgbClr val="526875"/>
                </a:solidFill>
                <a:latin typeface="Arial"/>
                <a:ea typeface="Arial"/>
                <a:cs typeface="Arial"/>
              </a:defRPr>
            </a:lvl2pPr>
            <a:lvl3pPr>
              <a:defRPr sz="1650">
                <a:solidFill>
                  <a:srgbClr val="526875"/>
                </a:solidFill>
                <a:latin typeface="Arial"/>
                <a:ea typeface="Arial"/>
                <a:cs typeface="Arial"/>
              </a:defRPr>
            </a:lvl3pPr>
            <a:lvl4pPr>
              <a:defRPr sz="1650">
                <a:solidFill>
                  <a:srgbClr val="526875"/>
                </a:solidFill>
                <a:latin typeface="Arial"/>
                <a:ea typeface="Arial"/>
                <a:cs typeface="Arial"/>
              </a:defRPr>
            </a:lvl4pPr>
            <a:lvl5pPr>
              <a:defRPr sz="1650">
                <a:solidFill>
                  <a:srgbClr val="526875"/>
                </a:solidFill>
                <a:latin typeface="Arial"/>
                <a:ea typeface="Arial"/>
                <a:cs typeface="Arial"/>
              </a:defRPr>
            </a:lvl5pPr>
            <a:lvl6pPr>
              <a:defRPr sz="1650">
                <a:solidFill>
                  <a:srgbClr val="526875"/>
                </a:solidFill>
                <a:latin typeface="Arial"/>
                <a:ea typeface="Arial"/>
                <a:cs typeface="Arial"/>
              </a:defRPr>
            </a:lvl6pPr>
            <a:lvl7pPr>
              <a:defRPr sz="1650">
                <a:solidFill>
                  <a:srgbClr val="526875"/>
                </a:solidFill>
                <a:latin typeface="Arial"/>
                <a:ea typeface="Arial"/>
                <a:cs typeface="Arial"/>
              </a:defRPr>
            </a:lvl7pPr>
            <a:lvl8pPr>
              <a:defRPr sz="1650">
                <a:solidFill>
                  <a:srgbClr val="526875"/>
                </a:solidFill>
                <a:latin typeface="Arial"/>
                <a:ea typeface="Arial"/>
                <a:cs typeface="Arial"/>
              </a:defRPr>
            </a:lvl8pPr>
            <a:lvl9pPr>
              <a:defRPr sz="1650">
                <a:solidFill>
                  <a:srgbClr val="526875"/>
                </a:solidFill>
                <a:latin typeface="Arial"/>
                <a:ea typeface="Arial"/>
                <a:cs typeface="Arial"/>
              </a:defRPr>
            </a:lvl9pPr>
          </a:lstStyle>
          <a:p xmlns:a="http://schemas.openxmlformats.org/drawingml/2006/main">
            <a:pPr>
              <a:defRPr sz="1650">
                <a:solidFill>
                  <a:srgbClr val="526875"/>
                </a:solidFill>
                <a:latin typeface="Arial"/>
                <a:ea typeface="Arial"/>
                <a:cs typeface="Arial"/>
              </a:defRPr>
            </a:pPr>
            <a:r>
              <a:rPr sz="1650">
                <a:solidFill>
                  <a:srgbClr val="526875"/>
                </a:solidFill>
                <a:latin typeface="Arial"/>
                <a:ea typeface="Arial"/>
                <a:cs typeface="Arial"/>
              </a:rPr>
              <a:t>Adam learning rate 0.0005. MSE loss. Fixed seed 42.</a:t>
            </a:r>
          </a:p>
        </p:txBody>
      </p:sp>
    </p:spTree>
    <p:extLst>
      <p:ext uri="{BB962C8B-B14F-4D97-AF65-F5344CB8AC3E}">
        <p14:creationId xmlns:p14="http://schemas.microsoft.com/office/powerpoint/2010/main" val="1359662298"/>
      </p:ext>
    </p:extLst>
  </p:cSld>
</p:sld>
</file>

<file path=ppt/slides/slide6.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DFBC901-0585-4C9B-94D8-DC40DAD36D86}"/>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Persistence performs better in this run</a:t>
            </a:r>
          </a:p>
        </p:txBody>
      </p:sp>
      <p:sp>
        <p:nvSpPr>
          <p:cNvPr id="2" name="page-number">
            <a:extLst xmlns:a="http://schemas.openxmlformats.org/drawingml/2006/main">
              <a:ext uri="{FF2B5EF4-FFF2-40B4-BE49-F238E27FC236}">
                <a16:creationId xmlns:a16="http://schemas.microsoft.com/office/drawing/2014/main" id="{92A11A24-B88C-40E6-9EC6-A94E2B0B2B79}"/>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06</a:t>
            </a:r>
          </a:p>
        </p:txBody>
      </p:sp>
      <p:sp>
        <p:nvSpPr>
          <p:cNvPr id="3" name="result-scope">
            <a:extLst xmlns:a="http://schemas.openxmlformats.org/drawingml/2006/main">
              <a:ext uri="{FF2B5EF4-FFF2-40B4-BE49-F238E27FC236}">
                <a16:creationId xmlns:a16="http://schemas.microsoft.com/office/drawing/2014/main" id="{6697C840-7536-4B77-A317-9D2727151DB5}"/>
              </a:ext>
            </a:extLst>
          </p:cNvPr>
          <p:cNvSpPr>
            <a:spLocks xmlns:a="http://schemas.openxmlformats.org/drawingml/2006/main" noGrp="1"/>
          </p:cNvSpPr>
          <p:nvPr/>
        </p:nvSpPr>
        <p:spPr>
          <a:xfrm xmlns:a="http://schemas.openxmlformats.org/drawingml/2006/main">
            <a:off x="685800" y="13525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83340"/>
                </a:solidFill>
                <a:latin typeface="Arial"/>
                <a:ea typeface="Arial"/>
                <a:cs typeface="Arial"/>
              </a:defRPr>
            </a:defPPr>
            <a:lvl1pPr>
              <a:defRPr sz="2100">
                <a:solidFill>
                  <a:srgbClr val="183340"/>
                </a:solidFill>
                <a:latin typeface="Arial"/>
                <a:ea typeface="Arial"/>
                <a:cs typeface="Arial"/>
              </a:defRPr>
            </a:lvl1pPr>
            <a:lvl2pPr>
              <a:defRPr sz="2100">
                <a:solidFill>
                  <a:srgbClr val="183340"/>
                </a:solidFill>
                <a:latin typeface="Arial"/>
                <a:ea typeface="Arial"/>
                <a:cs typeface="Arial"/>
              </a:defRPr>
            </a:lvl2pPr>
            <a:lvl3pPr>
              <a:defRPr sz="2100">
                <a:solidFill>
                  <a:srgbClr val="183340"/>
                </a:solidFill>
                <a:latin typeface="Arial"/>
                <a:ea typeface="Arial"/>
                <a:cs typeface="Arial"/>
              </a:defRPr>
            </a:lvl3pPr>
            <a:lvl4pPr>
              <a:defRPr sz="2100">
                <a:solidFill>
                  <a:srgbClr val="183340"/>
                </a:solidFill>
                <a:latin typeface="Arial"/>
                <a:ea typeface="Arial"/>
                <a:cs typeface="Arial"/>
              </a:defRPr>
            </a:lvl4pPr>
            <a:lvl5pPr>
              <a:defRPr sz="2100">
                <a:solidFill>
                  <a:srgbClr val="183340"/>
                </a:solidFill>
                <a:latin typeface="Arial"/>
                <a:ea typeface="Arial"/>
                <a:cs typeface="Arial"/>
              </a:defRPr>
            </a:lvl5pPr>
            <a:lvl6pPr>
              <a:defRPr sz="2100">
                <a:solidFill>
                  <a:srgbClr val="183340"/>
                </a:solidFill>
                <a:latin typeface="Arial"/>
                <a:ea typeface="Arial"/>
                <a:cs typeface="Arial"/>
              </a:defRPr>
            </a:lvl6pPr>
            <a:lvl7pPr>
              <a:defRPr sz="2100">
                <a:solidFill>
                  <a:srgbClr val="183340"/>
                </a:solidFill>
                <a:latin typeface="Arial"/>
                <a:ea typeface="Arial"/>
                <a:cs typeface="Arial"/>
              </a:defRPr>
            </a:lvl7pPr>
            <a:lvl8pPr>
              <a:defRPr sz="2100">
                <a:solidFill>
                  <a:srgbClr val="183340"/>
                </a:solidFill>
                <a:latin typeface="Arial"/>
                <a:ea typeface="Arial"/>
                <a:cs typeface="Arial"/>
              </a:defRPr>
            </a:lvl8pPr>
            <a:lvl9pPr>
              <a:defRPr sz="2100">
                <a:solidFill>
                  <a:srgbClr val="183340"/>
                </a:solidFill>
                <a:latin typeface="Arial"/>
                <a:ea typeface="Arial"/>
                <a:cs typeface="Arial"/>
              </a:defRPr>
            </a:lvl9pPr>
          </a:lstStyle>
          <a:p xmlns:a="http://schemas.openxmlformats.org/drawingml/2006/main">
            <a:pPr>
              <a:defRPr sz="2100">
                <a:solidFill>
                  <a:srgbClr val="183340"/>
                </a:solidFill>
                <a:latin typeface="Arial"/>
                <a:ea typeface="Arial"/>
                <a:cs typeface="Arial"/>
              </a:defRPr>
            </a:pPr>
            <a:r>
              <a:rPr sz="2100">
                <a:solidFill>
                  <a:srgbClr val="183340"/>
                </a:solidFill>
                <a:latin typeface="Arial"/>
                <a:ea typeface="Arial"/>
                <a:cs typeface="Arial"/>
              </a:rPr>
              <a:t>Held-out synthetic test set: 180 windows after five training epochs.</a:t>
            </a:r>
          </a:p>
        </p:txBody>
      </p:sp>
      <p:graphicFrame>
        <p:nvGraphicFramePr>
          <p:cNvPr id="4" name="Chart">
            <a:extLst xmlns:a="http://schemas.openxmlformats.org/drawingml/2006/main">
              <a:ext uri="{FF2B5EF4-FFF2-40B4-BE49-F238E27FC236}">
                <a16:creationId xmlns:a16="http://schemas.microsoft.com/office/drawing/2014/main" id="{2D15F38A-2D05-41EA-9ED9-0A33630A6620}"/>
              </a:ext>
            </a:extLst>
          </p:cNvPr>
          <p:cNvGraphicFramePr/>
          <p:nvPr/>
        </p:nvGraphicFramePr>
        <p:xfrm>
          <a:off xmlns:a="http://schemas.openxmlformats.org/drawingml/2006/main" x="685800" y="2190750"/>
          <a:ext xmlns:a="http://schemas.openxmlformats.org/drawingml/2006/main" cx="5810250" cy="3048000"/>
        </p:xfrm>
        <a:graphic xmlns:a="http://schemas.openxmlformats.org/drawingml/2006/main">
          <a:graphicData uri="http://schemas.openxmlformats.org/drawingml/2006/chart">
            <c:chart xmlns:r="http://schemas.openxmlformats.org/officeDocument/2006/relationships" xmlns:c="http://schemas.openxmlformats.org/drawingml/2006/chart" r:id="Rfc9a4b5987804a6f"/>
          </a:graphicData>
        </a:graphic>
      </p:graphicFrame>
      <p:graphicFrame>
        <p:nvGraphicFramePr>
          <p:cNvPr id="5" name="">
            <a:extLst xmlns:a="http://schemas.openxmlformats.org/drawingml/2006/main">
              <a:ext uri="{FF2B5EF4-FFF2-40B4-BE49-F238E27FC236}">
                <a16:creationId xmlns:a16="http://schemas.microsoft.com/office/drawing/2014/main" id="{17291B56-DA09-4641-B401-9901A6394B58}"/>
              </a:ext>
            </a:extLst>
          </p:cNvPr>
          <p:cNvGraphicFramePr/>
          <p:nvPr/>
        </p:nvGraphicFramePr>
        <p:xfrm>
          <a:off xmlns:a="http://schemas.openxmlformats.org/drawingml/2006/main" x="7086600" y="2466975"/>
          <a:ext xmlns:a="http://schemas.openxmlformats.org/drawingml/2006/main" cx="4419600" cy="2286000"/>
        </p:xfrm>
        <a:graphic xmlns:a="http://schemas.openxmlformats.org/drawingml/2006/main">
          <a:graphicData uri="http://schemas.openxmlformats.org/drawingml/2006/table">
            <a:tbl>
              <a:tblPr/>
              <a:tblGrid>
                <a:gridCol w="1371600"/>
                <a:gridCol w="1352550"/>
                <a:gridCol w="1695450"/>
              </a:tblGrid>
              <a:tr h="571500">
                <a:tc>
                  <a:txBody>
                    <a:bodyPr lIns="142875" tIns="142875" rIns="142875" bIns="142875">
                      <a:noAutofit/>
                    </a:bodyPr>
                    <a:lstStyle/>
                    <a:p>
                      <a:r>
                        <a:rPr sz="1575" b="1">
                          <a:solidFill>
                            <a:srgbClr val="FFFFFF"/>
                          </a:solidFill>
                          <a:latin typeface="Arial"/>
                          <a:ea typeface="Arial"/>
                          <a:cs typeface="Arial"/>
                        </a:rPr>
                        <a:t>Metric</a:t>
                      </a:r>
                    </a:p>
                  </a:txBody>
                  <a:tcPr marL="91440" marR="91440" marT="45720" marB="45720" anchor="ctr">
                    <a:lnL w="9525">
                      <a:solidFill>
                        <a:srgbClr val="CFDCDF"/>
                      </a:solidFill>
                      <a:prstDash val="solid"/>
                    </a:lnL>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c>
                  <a:txBody>
                    <a:bodyPr lIns="142875" tIns="142875" rIns="142875" bIns="142875">
                      <a:noAutofit/>
                    </a:bodyPr>
                    <a:lstStyle/>
                    <a:p>
                      <a:r>
                        <a:rPr sz="1575" b="1">
                          <a:solidFill>
                            <a:srgbClr val="FFFFFF"/>
                          </a:solidFill>
                          <a:latin typeface="Arial"/>
                          <a:ea typeface="Arial"/>
                          <a:cs typeface="Arial"/>
                        </a:rPr>
                        <a:t>CNN</a:t>
                      </a:r>
                    </a:p>
                  </a:txBody>
                  <a:tcPr marL="91440" marR="91440" marT="45720" marB="45720" anchor="ctr">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c>
                  <a:txBody>
                    <a:bodyPr lIns="142875" tIns="142875" rIns="142875" bIns="142875">
                      <a:noAutofit/>
                    </a:bodyPr>
                    <a:lstStyle/>
                    <a:p>
                      <a:r>
                        <a:rPr sz="1575" b="1">
                          <a:solidFill>
                            <a:srgbClr val="FFFFFF"/>
                          </a:solidFill>
                          <a:latin typeface="Arial"/>
                          <a:ea typeface="Arial"/>
                          <a:cs typeface="Arial"/>
                        </a:rPr>
                        <a:t>Persistence</a:t>
                      </a:r>
                    </a:p>
                  </a:txBody>
                  <a:tcPr marL="91440" marR="91440" marT="45720" marB="45720" anchor="ctr">
                    <a:lnR w="9525">
                      <a:solidFill>
                        <a:srgbClr val="CFDCDF"/>
                      </a:solidFill>
                      <a:prstDash val="solid"/>
                    </a:lnR>
                    <a:lnT w="9525">
                      <a:solidFill>
                        <a:srgbClr val="CFDCDF"/>
                      </a:solidFill>
                      <a:prstDash val="solid"/>
                    </a:lnT>
                    <a:lnB w="9525">
                      <a:solidFill>
                        <a:srgbClr val="CFDCDF"/>
                      </a:solidFill>
                      <a:prstDash val="solid"/>
                    </a:lnB>
                    <a:solidFill>
                      <a:srgbClr val="17323F"/>
                    </a:solidFill>
                  </a:tcPr>
                </a:tc>
              </a:tr>
              <a:tr h="571500">
                <a:tc>
                  <a:txBody>
                    <a:bodyPr lIns="142875" tIns="142875" rIns="142875" bIns="142875">
                      <a:noAutofit/>
                    </a:bodyPr>
                    <a:lstStyle/>
                    <a:p>
                      <a:r>
                        <a:rPr sz="1575" b="0">
                          <a:solidFill>
                            <a:srgbClr val="183340"/>
                          </a:solidFill>
                          <a:latin typeface="Arial"/>
                          <a:ea typeface="Arial"/>
                          <a:cs typeface="Arial"/>
                        </a:rPr>
                        <a:t>MAE</a:t>
                      </a:r>
                    </a:p>
                  </a:txBody>
                  <a:tcPr marL="91440" marR="91440" marT="45720" marB="45720" anchor="ctr">
                    <a:lnL w="9525">
                      <a:solidFill>
                        <a:srgbClr val="CFDCDF"/>
                      </a:solidFill>
                      <a:prstDash val="solid"/>
                    </a:lnL>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575" b="0">
                          <a:solidFill>
                            <a:srgbClr val="183340"/>
                          </a:solidFill>
                          <a:latin typeface="Arial"/>
                          <a:ea typeface="Arial"/>
                          <a:cs typeface="Arial"/>
                        </a:rPr>
                        <a:t>165.19</a:t>
                      </a:r>
                    </a:p>
                  </a:txBody>
                  <a:tcPr marL="91440" marR="91440" marT="45720" marB="45720" anchor="ctr">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575" b="0">
                          <a:solidFill>
                            <a:srgbClr val="183340"/>
                          </a:solidFill>
                          <a:latin typeface="Arial"/>
                          <a:ea typeface="Arial"/>
                          <a:cs typeface="Arial"/>
                        </a:rPr>
                        <a:t>94.79</a:t>
                      </a:r>
                    </a:p>
                  </a:txBody>
                  <a:tcPr marL="91440" marR="91440" marT="45720" marB="45720" anchor="ctr">
                    <a:lnR w="9525">
                      <a:solidFill>
                        <a:srgbClr val="CFDCDF"/>
                      </a:solidFill>
                      <a:prstDash val="solid"/>
                    </a:lnR>
                    <a:lnB w="9525">
                      <a:solidFill>
                        <a:srgbClr val="CFDCDF"/>
                      </a:solidFill>
                      <a:prstDash val="solid"/>
                    </a:lnB>
                    <a:solidFill>
                      <a:srgbClr val="FFFFFF"/>
                    </a:solidFill>
                  </a:tcPr>
                </a:tc>
              </a:tr>
              <a:tr h="571500">
                <a:tc>
                  <a:txBody>
                    <a:bodyPr lIns="142875" tIns="142875" rIns="142875" bIns="142875">
                      <a:noAutofit/>
                    </a:bodyPr>
                    <a:lstStyle/>
                    <a:p>
                      <a:r>
                        <a:rPr sz="1575" b="0">
                          <a:solidFill>
                            <a:srgbClr val="183340"/>
                          </a:solidFill>
                          <a:latin typeface="Arial"/>
                          <a:ea typeface="Arial"/>
                          <a:cs typeface="Arial"/>
                        </a:rPr>
                        <a:t>RMSE</a:t>
                      </a:r>
                    </a:p>
                  </a:txBody>
                  <a:tcPr marL="91440" marR="91440" marT="45720" marB="45720" anchor="ctr">
                    <a:lnL w="9525">
                      <a:solidFill>
                        <a:srgbClr val="CFDCDF"/>
                      </a:solidFill>
                      <a:prstDash val="solid"/>
                    </a:lnL>
                    <a:lnR w="9525">
                      <a:solidFill>
                        <a:srgbClr val="CFDCDF"/>
                      </a:solidFill>
                      <a:prstDash val="solid"/>
                    </a:lnR>
                    <a:lnB w="9525">
                      <a:solidFill>
                        <a:srgbClr val="CFDCDF"/>
                      </a:solidFill>
                      <a:prstDash val="solid"/>
                    </a:lnB>
                    <a:solidFill>
                      <a:srgbClr val="ECF6F5"/>
                    </a:solidFill>
                  </a:tcPr>
                </a:tc>
                <a:tc>
                  <a:txBody>
                    <a:bodyPr lIns="142875" tIns="142875" rIns="142875" bIns="142875">
                      <a:noAutofit/>
                    </a:bodyPr>
                    <a:lstStyle/>
                    <a:p>
                      <a:r>
                        <a:rPr sz="1575" b="0">
                          <a:solidFill>
                            <a:srgbClr val="183340"/>
                          </a:solidFill>
                          <a:latin typeface="Arial"/>
                          <a:ea typeface="Arial"/>
                          <a:cs typeface="Arial"/>
                        </a:rPr>
                        <a:t>220.78</a:t>
                      </a:r>
                    </a:p>
                  </a:txBody>
                  <a:tcPr marL="91440" marR="91440" marT="45720" marB="45720" anchor="ctr">
                    <a:lnR w="9525">
                      <a:solidFill>
                        <a:srgbClr val="CFDCDF"/>
                      </a:solidFill>
                      <a:prstDash val="solid"/>
                    </a:lnR>
                    <a:lnB w="9525">
                      <a:solidFill>
                        <a:srgbClr val="CFDCDF"/>
                      </a:solidFill>
                      <a:prstDash val="solid"/>
                    </a:lnB>
                    <a:solidFill>
                      <a:srgbClr val="ECF6F5"/>
                    </a:solidFill>
                  </a:tcPr>
                </a:tc>
                <a:tc>
                  <a:txBody>
                    <a:bodyPr lIns="142875" tIns="142875" rIns="142875" bIns="142875">
                      <a:noAutofit/>
                    </a:bodyPr>
                    <a:lstStyle/>
                    <a:p>
                      <a:r>
                        <a:rPr sz="1575" b="0">
                          <a:solidFill>
                            <a:srgbClr val="183340"/>
                          </a:solidFill>
                          <a:latin typeface="Arial"/>
                          <a:ea typeface="Arial"/>
                          <a:cs typeface="Arial"/>
                        </a:rPr>
                        <a:t>128.84</a:t>
                      </a:r>
                    </a:p>
                  </a:txBody>
                  <a:tcPr marL="91440" marR="91440" marT="45720" marB="45720" anchor="ctr">
                    <a:lnR w="9525">
                      <a:solidFill>
                        <a:srgbClr val="CFDCDF"/>
                      </a:solidFill>
                      <a:prstDash val="solid"/>
                    </a:lnR>
                    <a:lnB w="9525">
                      <a:solidFill>
                        <a:srgbClr val="CFDCDF"/>
                      </a:solidFill>
                      <a:prstDash val="solid"/>
                    </a:lnB>
                    <a:solidFill>
                      <a:srgbClr val="ECF6F5"/>
                    </a:solidFill>
                  </a:tcPr>
                </a:tc>
              </a:tr>
              <a:tr h="571500">
                <a:tc>
                  <a:txBody>
                    <a:bodyPr lIns="142875" tIns="142875" rIns="142875" bIns="142875">
                      <a:noAutofit/>
                    </a:bodyPr>
                    <a:lstStyle/>
                    <a:p>
                      <a:r>
                        <a:rPr sz="1575" b="0">
                          <a:solidFill>
                            <a:srgbClr val="183340"/>
                          </a:solidFill>
                          <a:latin typeface="Arial"/>
                          <a:ea typeface="Arial"/>
                          <a:cs typeface="Arial"/>
                        </a:rPr>
                        <a:t>R2</a:t>
                      </a:r>
                    </a:p>
                  </a:txBody>
                  <a:tcPr marL="91440" marR="91440" marT="45720" marB="45720" anchor="ctr">
                    <a:lnL w="9525">
                      <a:solidFill>
                        <a:srgbClr val="CFDCDF"/>
                      </a:solidFill>
                      <a:prstDash val="solid"/>
                    </a:lnL>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575" b="0">
                          <a:solidFill>
                            <a:srgbClr val="183340"/>
                          </a:solidFill>
                          <a:latin typeface="Arial"/>
                          <a:ea typeface="Arial"/>
                          <a:cs typeface="Arial"/>
                        </a:rPr>
                        <a:t>0.619</a:t>
                      </a:r>
                    </a:p>
                  </a:txBody>
                  <a:tcPr marL="91440" marR="91440" marT="45720" marB="45720" anchor="ctr">
                    <a:lnR w="9525">
                      <a:solidFill>
                        <a:srgbClr val="CFDCDF"/>
                      </a:solidFill>
                      <a:prstDash val="solid"/>
                    </a:lnR>
                    <a:lnB w="9525">
                      <a:solidFill>
                        <a:srgbClr val="CFDCDF"/>
                      </a:solidFill>
                      <a:prstDash val="solid"/>
                    </a:lnB>
                    <a:solidFill>
                      <a:srgbClr val="FFFFFF"/>
                    </a:solidFill>
                  </a:tcPr>
                </a:tc>
                <a:tc>
                  <a:txBody>
                    <a:bodyPr lIns="142875" tIns="142875" rIns="142875" bIns="142875">
                      <a:noAutofit/>
                    </a:bodyPr>
                    <a:lstStyle/>
                    <a:p>
                      <a:r>
                        <a:rPr sz="1575" b="0">
                          <a:solidFill>
                            <a:srgbClr val="183340"/>
                          </a:solidFill>
                          <a:latin typeface="Arial"/>
                          <a:ea typeface="Arial"/>
                          <a:cs typeface="Arial"/>
                        </a:rPr>
                        <a:t>0.870</a:t>
                      </a:r>
                    </a:p>
                  </a:txBody>
                  <a:tcPr marL="91440" marR="91440" marT="45720" marB="45720" anchor="ctr">
                    <a:lnR w="9525">
                      <a:solidFill>
                        <a:srgbClr val="CFDCDF"/>
                      </a:solidFill>
                      <a:prstDash val="solid"/>
                    </a:lnR>
                    <a:lnB w="9525">
                      <a:solidFill>
                        <a:srgbClr val="CFDCDF"/>
                      </a:solidFill>
                      <a:prstDash val="solid"/>
                    </a:lnB>
                    <a:solidFill>
                      <a:srgbClr val="FFFFFF"/>
                    </a:solidFill>
                  </a:tcPr>
                </a:tc>
              </a:tr>
            </a:tbl>
          </a:graphicData>
        </a:graphic>
      </p:graphicFrame>
      <p:sp>
        <p:nvSpPr>
          <p:cNvPr id="6" name="result-conclusion">
            <a:extLst xmlns:a="http://schemas.openxmlformats.org/drawingml/2006/main">
              <a:ext uri="{FF2B5EF4-FFF2-40B4-BE49-F238E27FC236}">
                <a16:creationId xmlns:a16="http://schemas.microsoft.com/office/drawing/2014/main" id="{4E019F44-9B0A-40B5-B2F1-95A1E008DF89}"/>
              </a:ext>
            </a:extLst>
          </p:cNvPr>
          <p:cNvSpPr>
            <a:spLocks xmlns:a="http://schemas.openxmlformats.org/drawingml/2006/main" noGrp="1"/>
          </p:cNvSpPr>
          <p:nvPr/>
        </p:nvSpPr>
        <p:spPr>
          <a:xfrm xmlns:a="http://schemas.openxmlformats.org/drawingml/2006/main">
            <a:off x="685800" y="56197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526875"/>
                </a:solidFill>
                <a:latin typeface="Arial"/>
                <a:ea typeface="Arial"/>
                <a:cs typeface="Arial"/>
              </a:defRPr>
            </a:defPPr>
            <a:lvl1pPr>
              <a:defRPr sz="2025">
                <a:solidFill>
                  <a:srgbClr val="526875"/>
                </a:solidFill>
                <a:latin typeface="Arial"/>
                <a:ea typeface="Arial"/>
                <a:cs typeface="Arial"/>
              </a:defRPr>
            </a:lvl1pPr>
            <a:lvl2pPr>
              <a:defRPr sz="2025">
                <a:solidFill>
                  <a:srgbClr val="526875"/>
                </a:solidFill>
                <a:latin typeface="Arial"/>
                <a:ea typeface="Arial"/>
                <a:cs typeface="Arial"/>
              </a:defRPr>
            </a:lvl2pPr>
            <a:lvl3pPr>
              <a:defRPr sz="2025">
                <a:solidFill>
                  <a:srgbClr val="526875"/>
                </a:solidFill>
                <a:latin typeface="Arial"/>
                <a:ea typeface="Arial"/>
                <a:cs typeface="Arial"/>
              </a:defRPr>
            </a:lvl3pPr>
            <a:lvl4pPr>
              <a:defRPr sz="2025">
                <a:solidFill>
                  <a:srgbClr val="526875"/>
                </a:solidFill>
                <a:latin typeface="Arial"/>
                <a:ea typeface="Arial"/>
                <a:cs typeface="Arial"/>
              </a:defRPr>
            </a:lvl4pPr>
            <a:lvl5pPr>
              <a:defRPr sz="2025">
                <a:solidFill>
                  <a:srgbClr val="526875"/>
                </a:solidFill>
                <a:latin typeface="Arial"/>
                <a:ea typeface="Arial"/>
                <a:cs typeface="Arial"/>
              </a:defRPr>
            </a:lvl5pPr>
            <a:lvl6pPr>
              <a:defRPr sz="2025">
                <a:solidFill>
                  <a:srgbClr val="526875"/>
                </a:solidFill>
                <a:latin typeface="Arial"/>
                <a:ea typeface="Arial"/>
                <a:cs typeface="Arial"/>
              </a:defRPr>
            </a:lvl6pPr>
            <a:lvl7pPr>
              <a:defRPr sz="2025">
                <a:solidFill>
                  <a:srgbClr val="526875"/>
                </a:solidFill>
                <a:latin typeface="Arial"/>
                <a:ea typeface="Arial"/>
                <a:cs typeface="Arial"/>
              </a:defRPr>
            </a:lvl7pPr>
            <a:lvl8pPr>
              <a:defRPr sz="2025">
                <a:solidFill>
                  <a:srgbClr val="526875"/>
                </a:solidFill>
                <a:latin typeface="Arial"/>
                <a:ea typeface="Arial"/>
                <a:cs typeface="Arial"/>
              </a:defRPr>
            </a:lvl8pPr>
            <a:lvl9pPr>
              <a:defRPr sz="2025">
                <a:solidFill>
                  <a:srgbClr val="526875"/>
                </a:solidFill>
                <a:latin typeface="Arial"/>
                <a:ea typeface="Arial"/>
                <a:cs typeface="Arial"/>
              </a:defRPr>
            </a:lvl9pPr>
          </a:lstStyle>
          <a:p xmlns:a="http://schemas.openxmlformats.org/drawingml/2006/main">
            <a:pPr>
              <a:defRPr sz="2025">
                <a:solidFill>
                  <a:srgbClr val="526875"/>
                </a:solidFill>
                <a:latin typeface="Arial"/>
                <a:ea typeface="Arial"/>
                <a:cs typeface="Arial"/>
              </a:defRPr>
            </a:pPr>
            <a:r>
              <a:rPr sz="2025">
                <a:solidFill>
                  <a:srgbClr val="526875"/>
                </a:solidFill>
                <a:latin typeface="Arial"/>
                <a:ea typeface="Arial"/>
                <a:cs typeface="Arial"/>
              </a:rPr>
              <a:t>This short demonstration verifies the workflow.</a:t>
            </a:r>
          </a:p>
          <a:p xmlns:a="http://schemas.openxmlformats.org/drawingml/2006/main">
            <a:pPr>
              <a:defRPr sz="2025">
                <a:solidFill>
                  <a:srgbClr val="526875"/>
                </a:solidFill>
                <a:latin typeface="Arial"/>
                <a:ea typeface="Arial"/>
                <a:cs typeface="Arial"/>
              </a:defRPr>
            </a:pPr>
            <a:r>
              <a:rPr sz="2025">
                <a:solidFill>
                  <a:srgbClr val="526875"/>
                </a:solidFill>
                <a:latin typeface="Arial"/>
                <a:ea typeface="Arial"/>
                <a:cs typeface="Arial"/>
              </a:rPr>
              <a:t>It does not establish real-market forecasting performance.</a:t>
            </a:r>
          </a:p>
        </p:txBody>
      </p:sp>
    </p:spTree>
    <p:extLst>
      <p:ext uri="{BB962C8B-B14F-4D97-AF65-F5344CB8AC3E}">
        <p14:creationId xmlns:p14="http://schemas.microsoft.com/office/powerpoint/2010/main" val="594384801"/>
      </p:ext>
    </p:extLst>
  </p:cSld>
</p:sld>
</file>

<file path=ppt/slides/slide7.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046D7CC7-6E31-4579-923D-4C1D78D9C1C1}"/>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Testing and limitations</a:t>
            </a:r>
          </a:p>
        </p:txBody>
      </p:sp>
      <p:sp>
        <p:nvSpPr>
          <p:cNvPr id="2" name="page-number">
            <a:extLst xmlns:a="http://schemas.openxmlformats.org/drawingml/2006/main">
              <a:ext uri="{FF2B5EF4-FFF2-40B4-BE49-F238E27FC236}">
                <a16:creationId xmlns:a16="http://schemas.microsoft.com/office/drawing/2014/main" id="{DC509F7E-E8B5-4018-AAB8-D70DDFC12F58}"/>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07</a:t>
            </a:r>
          </a:p>
        </p:txBody>
      </p:sp>
      <p:sp>
        <p:nvSpPr>
          <p:cNvPr id="3" name="quality-heading">
            <a:extLst xmlns:a="http://schemas.openxmlformats.org/drawingml/2006/main">
              <a:ext uri="{FF2B5EF4-FFF2-40B4-BE49-F238E27FC236}">
                <a16:creationId xmlns:a16="http://schemas.microsoft.com/office/drawing/2014/main" id="{F64BA024-67F8-4760-B5DB-696BF1150F82}"/>
              </a:ext>
            </a:extLst>
          </p:cNvPr>
          <p:cNvSpPr>
            <a:spLocks xmlns:a="http://schemas.openxmlformats.org/drawingml/2006/main" noGrp="1"/>
          </p:cNvSpPr>
          <p:nvPr/>
        </p:nvSpPr>
        <p:spPr>
          <a:xfrm xmlns:a="http://schemas.openxmlformats.org/drawingml/2006/main">
            <a:off x="685800" y="165735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11838A"/>
                </a:solidFill>
                <a:latin typeface="Arial"/>
                <a:ea typeface="Arial"/>
                <a:cs typeface="Arial"/>
              </a:defRPr>
            </a:defPPr>
            <a:lvl1pPr>
              <a:defRPr sz="4125" b="1">
                <a:solidFill>
                  <a:srgbClr val="11838A"/>
                </a:solidFill>
                <a:latin typeface="Arial"/>
                <a:ea typeface="Arial"/>
                <a:cs typeface="Arial"/>
              </a:defRPr>
            </a:lvl1pPr>
            <a:lvl2pPr>
              <a:defRPr sz="4125" b="1">
                <a:solidFill>
                  <a:srgbClr val="11838A"/>
                </a:solidFill>
                <a:latin typeface="Arial"/>
                <a:ea typeface="Arial"/>
                <a:cs typeface="Arial"/>
              </a:defRPr>
            </a:lvl2pPr>
            <a:lvl3pPr>
              <a:defRPr sz="4125" b="1">
                <a:solidFill>
                  <a:srgbClr val="11838A"/>
                </a:solidFill>
                <a:latin typeface="Arial"/>
                <a:ea typeface="Arial"/>
                <a:cs typeface="Arial"/>
              </a:defRPr>
            </a:lvl3pPr>
            <a:lvl4pPr>
              <a:defRPr sz="4125" b="1">
                <a:solidFill>
                  <a:srgbClr val="11838A"/>
                </a:solidFill>
                <a:latin typeface="Arial"/>
                <a:ea typeface="Arial"/>
                <a:cs typeface="Arial"/>
              </a:defRPr>
            </a:lvl4pPr>
            <a:lvl5pPr>
              <a:defRPr sz="4125" b="1">
                <a:solidFill>
                  <a:srgbClr val="11838A"/>
                </a:solidFill>
                <a:latin typeface="Arial"/>
                <a:ea typeface="Arial"/>
                <a:cs typeface="Arial"/>
              </a:defRPr>
            </a:lvl5pPr>
            <a:lvl6pPr>
              <a:defRPr sz="4125" b="1">
                <a:solidFill>
                  <a:srgbClr val="11838A"/>
                </a:solidFill>
                <a:latin typeface="Arial"/>
                <a:ea typeface="Arial"/>
                <a:cs typeface="Arial"/>
              </a:defRPr>
            </a:lvl6pPr>
            <a:lvl7pPr>
              <a:defRPr sz="4125" b="1">
                <a:solidFill>
                  <a:srgbClr val="11838A"/>
                </a:solidFill>
                <a:latin typeface="Arial"/>
                <a:ea typeface="Arial"/>
                <a:cs typeface="Arial"/>
              </a:defRPr>
            </a:lvl7pPr>
            <a:lvl8pPr>
              <a:defRPr sz="4125" b="1">
                <a:solidFill>
                  <a:srgbClr val="11838A"/>
                </a:solidFill>
                <a:latin typeface="Arial"/>
                <a:ea typeface="Arial"/>
                <a:cs typeface="Arial"/>
              </a:defRPr>
            </a:lvl8pPr>
            <a:lvl9pPr>
              <a:defRPr sz="4125" b="1">
                <a:solidFill>
                  <a:srgbClr val="11838A"/>
                </a:solidFill>
                <a:latin typeface="Arial"/>
                <a:ea typeface="Arial"/>
                <a:cs typeface="Arial"/>
              </a:defRPr>
            </a:lvl9pPr>
          </a:lstStyle>
          <a:p xmlns:a="http://schemas.openxmlformats.org/drawingml/2006/main">
            <a:pPr>
              <a:defRPr sz="4125" b="1">
                <a:solidFill>
                  <a:srgbClr val="11838A"/>
                </a:solidFill>
                <a:latin typeface="Arial"/>
                <a:ea typeface="Arial"/>
                <a:cs typeface="Arial"/>
              </a:defRPr>
            </a:pPr>
            <a:r>
              <a:rPr sz="4125" b="1">
                <a:solidFill>
                  <a:srgbClr val="11838A"/>
                </a:solidFill>
                <a:latin typeface="Arial"/>
                <a:ea typeface="Arial"/>
                <a:cs typeface="Arial"/>
              </a:rPr>
              <a:t>30 passing tests</a:t>
            </a:r>
          </a:p>
        </p:txBody>
      </p:sp>
      <p:sp>
        <p:nvSpPr>
          <p:cNvPr id="4" name="limits-heading">
            <a:extLst xmlns:a="http://schemas.openxmlformats.org/drawingml/2006/main">
              <a:ext uri="{FF2B5EF4-FFF2-40B4-BE49-F238E27FC236}">
                <a16:creationId xmlns:a16="http://schemas.microsoft.com/office/drawing/2014/main" id="{5875C460-6759-4414-939D-01ECC688BF2E}"/>
              </a:ext>
            </a:extLst>
          </p:cNvPr>
          <p:cNvSpPr>
            <a:spLocks xmlns:a="http://schemas.openxmlformats.org/drawingml/2006/main" noGrp="1"/>
          </p:cNvSpPr>
          <p:nvPr/>
        </p:nvSpPr>
        <p:spPr>
          <a:xfrm xmlns:a="http://schemas.openxmlformats.org/drawingml/2006/main">
            <a:off x="6810375" y="1743075"/>
            <a:ext cx="46958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340"/>
                </a:solidFill>
                <a:latin typeface="Arial"/>
                <a:ea typeface="Arial"/>
                <a:cs typeface="Arial"/>
              </a:defRPr>
            </a:defPPr>
            <a:lvl1pPr>
              <a:defRPr sz="2550" b="1">
                <a:solidFill>
                  <a:srgbClr val="183340"/>
                </a:solidFill>
                <a:latin typeface="Arial"/>
                <a:ea typeface="Arial"/>
                <a:cs typeface="Arial"/>
              </a:defRPr>
            </a:lvl1pPr>
            <a:lvl2pPr>
              <a:defRPr sz="2550" b="1">
                <a:solidFill>
                  <a:srgbClr val="183340"/>
                </a:solidFill>
                <a:latin typeface="Arial"/>
                <a:ea typeface="Arial"/>
                <a:cs typeface="Arial"/>
              </a:defRPr>
            </a:lvl2pPr>
            <a:lvl3pPr>
              <a:defRPr sz="2550" b="1">
                <a:solidFill>
                  <a:srgbClr val="183340"/>
                </a:solidFill>
                <a:latin typeface="Arial"/>
                <a:ea typeface="Arial"/>
                <a:cs typeface="Arial"/>
              </a:defRPr>
            </a:lvl3pPr>
            <a:lvl4pPr>
              <a:defRPr sz="2550" b="1">
                <a:solidFill>
                  <a:srgbClr val="183340"/>
                </a:solidFill>
                <a:latin typeface="Arial"/>
                <a:ea typeface="Arial"/>
                <a:cs typeface="Arial"/>
              </a:defRPr>
            </a:lvl4pPr>
            <a:lvl5pPr>
              <a:defRPr sz="2550" b="1">
                <a:solidFill>
                  <a:srgbClr val="183340"/>
                </a:solidFill>
                <a:latin typeface="Arial"/>
                <a:ea typeface="Arial"/>
                <a:cs typeface="Arial"/>
              </a:defRPr>
            </a:lvl5pPr>
            <a:lvl6pPr>
              <a:defRPr sz="2550" b="1">
                <a:solidFill>
                  <a:srgbClr val="183340"/>
                </a:solidFill>
                <a:latin typeface="Arial"/>
                <a:ea typeface="Arial"/>
                <a:cs typeface="Arial"/>
              </a:defRPr>
            </a:lvl6pPr>
            <a:lvl7pPr>
              <a:defRPr sz="2550" b="1">
                <a:solidFill>
                  <a:srgbClr val="183340"/>
                </a:solidFill>
                <a:latin typeface="Arial"/>
                <a:ea typeface="Arial"/>
                <a:cs typeface="Arial"/>
              </a:defRPr>
            </a:lvl7pPr>
            <a:lvl8pPr>
              <a:defRPr sz="2550" b="1">
                <a:solidFill>
                  <a:srgbClr val="183340"/>
                </a:solidFill>
                <a:latin typeface="Arial"/>
                <a:ea typeface="Arial"/>
                <a:cs typeface="Arial"/>
              </a:defRPr>
            </a:lvl8pPr>
            <a:lvl9pPr>
              <a:defRPr sz="2550" b="1">
                <a:solidFill>
                  <a:srgbClr val="183340"/>
                </a:solidFill>
                <a:latin typeface="Arial"/>
                <a:ea typeface="Arial"/>
                <a:cs typeface="Arial"/>
              </a:defRPr>
            </a:lvl9pPr>
          </a:lstStyle>
          <a:p xmlns:a="http://schemas.openxmlformats.org/drawingml/2006/main">
            <a:pPr>
              <a:defRPr sz="2550" b="1">
                <a:solidFill>
                  <a:srgbClr val="183340"/>
                </a:solidFill>
                <a:latin typeface="Arial"/>
                <a:ea typeface="Arial"/>
                <a:cs typeface="Arial"/>
              </a:defRPr>
            </a:pPr>
            <a:r>
              <a:rPr sz="2550" b="1">
                <a:solidFill>
                  <a:srgbClr val="183340"/>
                </a:solidFill>
                <a:latin typeface="Arial"/>
                <a:ea typeface="Arial"/>
                <a:cs typeface="Arial"/>
              </a:rPr>
              <a:t>Research boundaries</a:t>
            </a:r>
          </a:p>
        </p:txBody>
      </p:sp>
      <p:sp>
        <p:nvSpPr>
          <p:cNvPr id="5" name="check-0">
            <a:extLst xmlns:a="http://schemas.openxmlformats.org/drawingml/2006/main">
              <a:ext uri="{FF2B5EF4-FFF2-40B4-BE49-F238E27FC236}">
                <a16:creationId xmlns:a16="http://schemas.microsoft.com/office/drawing/2014/main" id="{F71CA5DD-D230-49F6-A09A-E5D9607F7FD4}"/>
              </a:ext>
            </a:extLst>
          </p:cNvPr>
          <p:cNvSpPr>
            <a:spLocks xmlns:a="http://schemas.openxmlformats.org/drawingml/2006/main" noGrp="1"/>
          </p:cNvSpPr>
          <p:nvPr/>
        </p:nvSpPr>
        <p:spPr>
          <a:xfrm xmlns:a="http://schemas.openxmlformats.org/drawingml/2006/main">
            <a:off x="685800" y="285750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Interval volume and daily resets</a:t>
            </a:r>
          </a:p>
        </p:txBody>
      </p:sp>
      <p:sp>
        <p:nvSpPr>
          <p:cNvPr id="6" name="check-1">
            <a:extLst xmlns:a="http://schemas.openxmlformats.org/drawingml/2006/main">
              <a:ext uri="{FF2B5EF4-FFF2-40B4-BE49-F238E27FC236}">
                <a16:creationId xmlns:a16="http://schemas.microsoft.com/office/drawing/2014/main" id="{DF574F34-1CFF-43B2-97EC-4090B87BE0A6}"/>
              </a:ext>
            </a:extLst>
          </p:cNvPr>
          <p:cNvSpPr>
            <a:spLocks xmlns:a="http://schemas.openxmlformats.org/drawingml/2006/main" noGrp="1"/>
          </p:cNvSpPr>
          <p:nvPr/>
        </p:nvSpPr>
        <p:spPr>
          <a:xfrm xmlns:a="http://schemas.openxmlformats.org/drawingml/2006/main">
            <a:off x="685800" y="352425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Causal windows and date boundaries</a:t>
            </a:r>
          </a:p>
        </p:txBody>
      </p:sp>
      <p:sp>
        <p:nvSpPr>
          <p:cNvPr id="7" name="check-2">
            <a:extLst xmlns:a="http://schemas.openxmlformats.org/drawingml/2006/main">
              <a:ext uri="{FF2B5EF4-FFF2-40B4-BE49-F238E27FC236}">
                <a16:creationId xmlns:a16="http://schemas.microsoft.com/office/drawing/2014/main" id="{97D9C990-8AAB-49E9-9F1F-1787856700D6}"/>
              </a:ext>
            </a:extLst>
          </p:cNvPr>
          <p:cNvSpPr>
            <a:spLocks xmlns:a="http://schemas.openxmlformats.org/drawingml/2006/main" noGrp="1"/>
          </p:cNvSpPr>
          <p:nvPr/>
        </p:nvSpPr>
        <p:spPr>
          <a:xfrm xmlns:a="http://schemas.openxmlformats.org/drawingml/2006/main">
            <a:off x="685800" y="419100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Scalers fitted on training only</a:t>
            </a:r>
          </a:p>
        </p:txBody>
      </p:sp>
      <p:sp>
        <p:nvSpPr>
          <p:cNvPr id="8" name="check-3">
            <a:extLst xmlns:a="http://schemas.openxmlformats.org/drawingml/2006/main">
              <a:ext uri="{FF2B5EF4-FFF2-40B4-BE49-F238E27FC236}">
                <a16:creationId xmlns:a16="http://schemas.microsoft.com/office/drawing/2014/main" id="{2E5F0BFC-B2D6-4EE2-8C3C-2E4925AB7E78}"/>
              </a:ext>
            </a:extLst>
          </p:cNvPr>
          <p:cNvSpPr>
            <a:spLocks xmlns:a="http://schemas.openxmlformats.org/drawingml/2006/main" noGrp="1"/>
          </p:cNvSpPr>
          <p:nvPr/>
        </p:nvSpPr>
        <p:spPr>
          <a:xfrm xmlns:a="http://schemas.openxmlformats.org/drawingml/2006/main">
            <a:off x="685800" y="485775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Model save and reload</a:t>
            </a:r>
          </a:p>
        </p:txBody>
      </p:sp>
      <p:sp>
        <p:nvSpPr>
          <p:cNvPr id="9" name="limit-0">
            <a:extLst xmlns:a="http://schemas.openxmlformats.org/drawingml/2006/main">
              <a:ext uri="{FF2B5EF4-FFF2-40B4-BE49-F238E27FC236}">
                <a16:creationId xmlns:a16="http://schemas.microsoft.com/office/drawing/2014/main" id="{3891F99C-922B-4FD4-84FB-D2F037C4F8DA}"/>
              </a:ext>
            </a:extLst>
          </p:cNvPr>
          <p:cNvSpPr>
            <a:spLocks xmlns:a="http://schemas.openxmlformats.org/drawingml/2006/main" noGrp="1"/>
          </p:cNvSpPr>
          <p:nvPr/>
        </p:nvSpPr>
        <p:spPr>
          <a:xfrm xmlns:a="http://schemas.openxmlformats.org/drawingml/2006/main">
            <a:off x="6810375" y="2857500"/>
            <a:ext cx="4695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Eight synthetic dates</a:t>
            </a:r>
          </a:p>
        </p:txBody>
      </p:sp>
      <p:sp>
        <p:nvSpPr>
          <p:cNvPr id="10" name="limit-1">
            <a:extLst xmlns:a="http://schemas.openxmlformats.org/drawingml/2006/main">
              <a:ext uri="{FF2B5EF4-FFF2-40B4-BE49-F238E27FC236}">
                <a16:creationId xmlns:a16="http://schemas.microsoft.com/office/drawing/2014/main" id="{F6C10578-6699-4357-9BAE-8069491F7CDD}"/>
              </a:ext>
            </a:extLst>
          </p:cNvPr>
          <p:cNvSpPr>
            <a:spLocks xmlns:a="http://schemas.openxmlformats.org/drawingml/2006/main" noGrp="1"/>
          </p:cNvSpPr>
          <p:nvPr/>
        </p:nvSpPr>
        <p:spPr>
          <a:xfrm xmlns:a="http://schemas.openxmlformats.org/drawingml/2006/main">
            <a:off x="6810375" y="3524250"/>
            <a:ext cx="4695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Five training epochs</a:t>
            </a:r>
          </a:p>
        </p:txBody>
      </p:sp>
      <p:sp>
        <p:nvSpPr>
          <p:cNvPr id="11" name="limit-2">
            <a:extLst xmlns:a="http://schemas.openxmlformats.org/drawingml/2006/main">
              <a:ext uri="{FF2B5EF4-FFF2-40B4-BE49-F238E27FC236}">
                <a16:creationId xmlns:a16="http://schemas.microsoft.com/office/drawing/2014/main" id="{71BFA58B-4797-4E96-A47C-5C34CAF9294F}"/>
              </a:ext>
            </a:extLst>
          </p:cNvPr>
          <p:cNvSpPr>
            <a:spLocks xmlns:a="http://schemas.openxmlformats.org/drawingml/2006/main" noGrp="1"/>
          </p:cNvSpPr>
          <p:nvPr/>
        </p:nvSpPr>
        <p:spPr>
          <a:xfrm xmlns:a="http://schemas.openxmlformats.org/drawingml/2006/main">
            <a:off x="6810375" y="4191000"/>
            <a:ext cx="4695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No real-market dataset</a:t>
            </a:r>
          </a:p>
        </p:txBody>
      </p:sp>
      <p:sp>
        <p:nvSpPr>
          <p:cNvPr id="12" name="limit-3">
            <a:extLst xmlns:a="http://schemas.openxmlformats.org/drawingml/2006/main">
              <a:ext uri="{FF2B5EF4-FFF2-40B4-BE49-F238E27FC236}">
                <a16:creationId xmlns:a16="http://schemas.microsoft.com/office/drawing/2014/main" id="{5B7F4F35-C1C0-4DFF-B120-E09B997F285A}"/>
              </a:ext>
            </a:extLst>
          </p:cNvPr>
          <p:cNvSpPr>
            <a:spLocks xmlns:a="http://schemas.openxmlformats.org/drawingml/2006/main" noGrp="1"/>
          </p:cNvSpPr>
          <p:nvPr/>
        </p:nvSpPr>
        <p:spPr>
          <a:xfrm xmlns:a="http://schemas.openxmlformats.org/drawingml/2006/main">
            <a:off x="6810375" y="4857750"/>
            <a:ext cx="4695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83340"/>
                </a:solidFill>
                <a:latin typeface="Arial"/>
                <a:ea typeface="Arial"/>
                <a:cs typeface="Arial"/>
              </a:defRPr>
            </a:defPPr>
            <a:lvl1pPr>
              <a:defRPr sz="1950">
                <a:solidFill>
                  <a:srgbClr val="183340"/>
                </a:solidFill>
                <a:latin typeface="Arial"/>
                <a:ea typeface="Arial"/>
                <a:cs typeface="Arial"/>
              </a:defRPr>
            </a:lvl1pPr>
            <a:lvl2pPr>
              <a:defRPr sz="1950">
                <a:solidFill>
                  <a:srgbClr val="183340"/>
                </a:solidFill>
                <a:latin typeface="Arial"/>
                <a:ea typeface="Arial"/>
                <a:cs typeface="Arial"/>
              </a:defRPr>
            </a:lvl2pPr>
            <a:lvl3pPr>
              <a:defRPr sz="1950">
                <a:solidFill>
                  <a:srgbClr val="183340"/>
                </a:solidFill>
                <a:latin typeface="Arial"/>
                <a:ea typeface="Arial"/>
                <a:cs typeface="Arial"/>
              </a:defRPr>
            </a:lvl3pPr>
            <a:lvl4pPr>
              <a:defRPr sz="1950">
                <a:solidFill>
                  <a:srgbClr val="183340"/>
                </a:solidFill>
                <a:latin typeface="Arial"/>
                <a:ea typeface="Arial"/>
                <a:cs typeface="Arial"/>
              </a:defRPr>
            </a:lvl4pPr>
            <a:lvl5pPr>
              <a:defRPr sz="1950">
                <a:solidFill>
                  <a:srgbClr val="183340"/>
                </a:solidFill>
                <a:latin typeface="Arial"/>
                <a:ea typeface="Arial"/>
                <a:cs typeface="Arial"/>
              </a:defRPr>
            </a:lvl5pPr>
            <a:lvl6pPr>
              <a:defRPr sz="1950">
                <a:solidFill>
                  <a:srgbClr val="183340"/>
                </a:solidFill>
                <a:latin typeface="Arial"/>
                <a:ea typeface="Arial"/>
                <a:cs typeface="Arial"/>
              </a:defRPr>
            </a:lvl6pPr>
            <a:lvl7pPr>
              <a:defRPr sz="1950">
                <a:solidFill>
                  <a:srgbClr val="183340"/>
                </a:solidFill>
                <a:latin typeface="Arial"/>
                <a:ea typeface="Arial"/>
                <a:cs typeface="Arial"/>
              </a:defRPr>
            </a:lvl7pPr>
            <a:lvl8pPr>
              <a:defRPr sz="1950">
                <a:solidFill>
                  <a:srgbClr val="183340"/>
                </a:solidFill>
                <a:latin typeface="Arial"/>
                <a:ea typeface="Arial"/>
                <a:cs typeface="Arial"/>
              </a:defRPr>
            </a:lvl8pPr>
            <a:lvl9pPr>
              <a:defRPr sz="1950">
                <a:solidFill>
                  <a:srgbClr val="183340"/>
                </a:solidFill>
                <a:latin typeface="Arial"/>
                <a:ea typeface="Arial"/>
                <a:cs typeface="Arial"/>
              </a:defRPr>
            </a:lvl9pPr>
          </a:lstStyle>
          <a:p xmlns:a="http://schemas.openxmlformats.org/drawingml/2006/main">
            <a:pPr>
              <a:defRPr sz="1950">
                <a:solidFill>
                  <a:srgbClr val="183340"/>
                </a:solidFill>
                <a:latin typeface="Arial"/>
                <a:ea typeface="Arial"/>
                <a:cs typeface="Arial"/>
              </a:defRPr>
            </a:pPr>
            <a:r>
              <a:rPr sz="1950">
                <a:solidFill>
                  <a:srgbClr val="183340"/>
                </a:solidFill>
                <a:latin typeface="Arial"/>
                <a:ea typeface="Arial"/>
                <a:cs typeface="Arial"/>
              </a:rPr>
              <a:t>No live inference or CMEM estimator</a:t>
            </a:r>
          </a:p>
        </p:txBody>
      </p:sp>
      <p:sp>
        <p:nvSpPr>
          <p:cNvPr id="13" name="quality-summary">
            <a:extLst xmlns:a="http://schemas.openxmlformats.org/drawingml/2006/main">
              <a:ext uri="{FF2B5EF4-FFF2-40B4-BE49-F238E27FC236}">
                <a16:creationId xmlns:a16="http://schemas.microsoft.com/office/drawing/2014/main" id="{27C1850C-1461-44A1-9C7B-7C18F65E90D4}"/>
              </a:ext>
            </a:extLst>
          </p:cNvPr>
          <p:cNvSpPr>
            <a:spLocks xmlns:a="http://schemas.openxmlformats.org/drawingml/2006/main" noGrp="1"/>
          </p:cNvSpPr>
          <p:nvPr/>
        </p:nvSpPr>
        <p:spPr>
          <a:xfrm xmlns:a="http://schemas.openxmlformats.org/drawingml/2006/main">
            <a:off x="685800" y="5848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526875"/>
                </a:solidFill>
                <a:latin typeface="Arial"/>
                <a:ea typeface="Arial"/>
                <a:cs typeface="Arial"/>
              </a:defRPr>
            </a:defPPr>
            <a:lvl1pPr>
              <a:defRPr sz="1800">
                <a:solidFill>
                  <a:srgbClr val="526875"/>
                </a:solidFill>
                <a:latin typeface="Arial"/>
                <a:ea typeface="Arial"/>
                <a:cs typeface="Arial"/>
              </a:defRPr>
            </a:lvl1pPr>
            <a:lvl2pPr>
              <a:defRPr sz="1800">
                <a:solidFill>
                  <a:srgbClr val="526875"/>
                </a:solidFill>
                <a:latin typeface="Arial"/>
                <a:ea typeface="Arial"/>
                <a:cs typeface="Arial"/>
              </a:defRPr>
            </a:lvl2pPr>
            <a:lvl3pPr>
              <a:defRPr sz="1800">
                <a:solidFill>
                  <a:srgbClr val="526875"/>
                </a:solidFill>
                <a:latin typeface="Arial"/>
                <a:ea typeface="Arial"/>
                <a:cs typeface="Arial"/>
              </a:defRPr>
            </a:lvl3pPr>
            <a:lvl4pPr>
              <a:defRPr sz="1800">
                <a:solidFill>
                  <a:srgbClr val="526875"/>
                </a:solidFill>
                <a:latin typeface="Arial"/>
                <a:ea typeface="Arial"/>
                <a:cs typeface="Arial"/>
              </a:defRPr>
            </a:lvl4pPr>
            <a:lvl5pPr>
              <a:defRPr sz="1800">
                <a:solidFill>
                  <a:srgbClr val="526875"/>
                </a:solidFill>
                <a:latin typeface="Arial"/>
                <a:ea typeface="Arial"/>
                <a:cs typeface="Arial"/>
              </a:defRPr>
            </a:lvl5pPr>
            <a:lvl6pPr>
              <a:defRPr sz="1800">
                <a:solidFill>
                  <a:srgbClr val="526875"/>
                </a:solidFill>
                <a:latin typeface="Arial"/>
                <a:ea typeface="Arial"/>
                <a:cs typeface="Arial"/>
              </a:defRPr>
            </a:lvl6pPr>
            <a:lvl7pPr>
              <a:defRPr sz="1800">
                <a:solidFill>
                  <a:srgbClr val="526875"/>
                </a:solidFill>
                <a:latin typeface="Arial"/>
                <a:ea typeface="Arial"/>
                <a:cs typeface="Arial"/>
              </a:defRPr>
            </a:lvl7pPr>
            <a:lvl8pPr>
              <a:defRPr sz="1800">
                <a:solidFill>
                  <a:srgbClr val="526875"/>
                </a:solidFill>
                <a:latin typeface="Arial"/>
                <a:ea typeface="Arial"/>
                <a:cs typeface="Arial"/>
              </a:defRPr>
            </a:lvl8pPr>
            <a:lvl9pPr>
              <a:defRPr sz="1800">
                <a:solidFill>
                  <a:srgbClr val="526875"/>
                </a:solidFill>
                <a:latin typeface="Arial"/>
                <a:ea typeface="Arial"/>
                <a:cs typeface="Arial"/>
              </a:defRPr>
            </a:lvl9pPr>
          </a:lstStyle>
          <a:p xmlns:a="http://schemas.openxmlformats.org/drawingml/2006/main">
            <a:pPr>
              <a:defRPr sz="1800">
                <a:solidFill>
                  <a:srgbClr val="526875"/>
                </a:solidFill>
                <a:latin typeface="Arial"/>
                <a:ea typeface="Arial"/>
                <a:cs typeface="Arial"/>
              </a:defRPr>
            </a:pPr>
            <a:r>
              <a:rPr sz="1800">
                <a:solidFill>
                  <a:srgbClr val="526875"/>
                </a:solidFill>
                <a:latin typeface="Arial"/>
                <a:ea typeface="Arial"/>
                <a:cs typeface="Arial"/>
              </a:rPr>
              <a:t>Windows CPU and Ubuntu CI passed. Ruff checks formatting and imports.</a:t>
            </a:r>
          </a:p>
        </p:txBody>
      </p:sp>
    </p:spTree>
    <p:extLst>
      <p:ext uri="{BB962C8B-B14F-4D97-AF65-F5344CB8AC3E}">
        <p14:creationId xmlns:p14="http://schemas.microsoft.com/office/powerpoint/2010/main" val="2066138641"/>
      </p:ext>
    </p:extLst>
  </p:cSld>
</p:sld>
</file>

<file path=ppt/slides/slide8.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0E80178-A22E-4836-8556-53073AE131C8}"/>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340"/>
                </a:solidFill>
                <a:latin typeface="Arial"/>
                <a:ea typeface="Arial"/>
                <a:cs typeface="Arial"/>
              </a:defRPr>
            </a:defPPr>
            <a:lvl1pPr>
              <a:defRPr sz="3300" b="1">
                <a:solidFill>
                  <a:srgbClr val="183340"/>
                </a:solidFill>
                <a:latin typeface="Arial"/>
                <a:ea typeface="Arial"/>
                <a:cs typeface="Arial"/>
              </a:defRPr>
            </a:lvl1pPr>
            <a:lvl2pPr>
              <a:defRPr sz="3300" b="1">
                <a:solidFill>
                  <a:srgbClr val="183340"/>
                </a:solidFill>
                <a:latin typeface="Arial"/>
                <a:ea typeface="Arial"/>
                <a:cs typeface="Arial"/>
              </a:defRPr>
            </a:lvl2pPr>
            <a:lvl3pPr>
              <a:defRPr sz="3300" b="1">
                <a:solidFill>
                  <a:srgbClr val="183340"/>
                </a:solidFill>
                <a:latin typeface="Arial"/>
                <a:ea typeface="Arial"/>
                <a:cs typeface="Arial"/>
              </a:defRPr>
            </a:lvl3pPr>
            <a:lvl4pPr>
              <a:defRPr sz="3300" b="1">
                <a:solidFill>
                  <a:srgbClr val="183340"/>
                </a:solidFill>
                <a:latin typeface="Arial"/>
                <a:ea typeface="Arial"/>
                <a:cs typeface="Arial"/>
              </a:defRPr>
            </a:lvl4pPr>
            <a:lvl5pPr>
              <a:defRPr sz="3300" b="1">
                <a:solidFill>
                  <a:srgbClr val="183340"/>
                </a:solidFill>
                <a:latin typeface="Arial"/>
                <a:ea typeface="Arial"/>
                <a:cs typeface="Arial"/>
              </a:defRPr>
            </a:lvl5pPr>
            <a:lvl6pPr>
              <a:defRPr sz="3300" b="1">
                <a:solidFill>
                  <a:srgbClr val="183340"/>
                </a:solidFill>
                <a:latin typeface="Arial"/>
                <a:ea typeface="Arial"/>
                <a:cs typeface="Arial"/>
              </a:defRPr>
            </a:lvl6pPr>
            <a:lvl7pPr>
              <a:defRPr sz="3300" b="1">
                <a:solidFill>
                  <a:srgbClr val="183340"/>
                </a:solidFill>
                <a:latin typeface="Arial"/>
                <a:ea typeface="Arial"/>
                <a:cs typeface="Arial"/>
              </a:defRPr>
            </a:lvl7pPr>
            <a:lvl8pPr>
              <a:defRPr sz="3300" b="1">
                <a:solidFill>
                  <a:srgbClr val="183340"/>
                </a:solidFill>
                <a:latin typeface="Arial"/>
                <a:ea typeface="Arial"/>
                <a:cs typeface="Arial"/>
              </a:defRPr>
            </a:lvl8pPr>
            <a:lvl9pPr>
              <a:defRPr sz="3300" b="1">
                <a:solidFill>
                  <a:srgbClr val="183340"/>
                </a:solidFill>
                <a:latin typeface="Arial"/>
                <a:ea typeface="Arial"/>
                <a:cs typeface="Arial"/>
              </a:defRPr>
            </a:lvl9pPr>
          </a:lstStyle>
          <a:p xmlns:a="http://schemas.openxmlformats.org/drawingml/2006/main">
            <a:pPr>
              <a:defRPr sz="3300" b="1">
                <a:solidFill>
                  <a:srgbClr val="183340"/>
                </a:solidFill>
                <a:latin typeface="Arial"/>
                <a:ea typeface="Arial"/>
                <a:cs typeface="Arial"/>
              </a:defRPr>
            </a:pPr>
            <a:r>
              <a:rPr sz="3300" b="1">
                <a:solidFill>
                  <a:srgbClr val="183340"/>
                </a:solidFill>
                <a:latin typeface="Arial"/>
                <a:ea typeface="Arial"/>
                <a:cs typeface="Arial"/>
              </a:rPr>
              <a:t>Run the project and explore the report</a:t>
            </a:r>
          </a:p>
        </p:txBody>
      </p:sp>
      <p:sp>
        <p:nvSpPr>
          <p:cNvPr id="2" name="page-number">
            <a:extLst xmlns:a="http://schemas.openxmlformats.org/drawingml/2006/main">
              <a:ext uri="{FF2B5EF4-FFF2-40B4-BE49-F238E27FC236}">
                <a16:creationId xmlns:a16="http://schemas.microsoft.com/office/drawing/2014/main" id="{0C0A5577-7141-49B2-BEDD-6411ADAB4B39}"/>
              </a:ext>
            </a:extLst>
          </p:cNvPr>
          <p:cNvSpPr>
            <a:spLocks xmlns:a="http://schemas.openxmlformats.org/drawingml/2006/main" noGrp="1"/>
          </p:cNvSpPr>
          <p:nvPr/>
        </p:nvSpPr>
        <p:spPr>
          <a:xfrm xmlns:a="http://schemas.openxmlformats.org/drawingml/2006/main">
            <a:off x="11049000" y="63436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526875"/>
                </a:solidFill>
                <a:latin typeface="Arial"/>
                <a:ea typeface="Arial"/>
                <a:cs typeface="Arial"/>
              </a:defRPr>
            </a:defPPr>
            <a:lvl1pPr algn="r">
              <a:defRPr sz="1200">
                <a:solidFill>
                  <a:srgbClr val="526875"/>
                </a:solidFill>
                <a:latin typeface="Arial"/>
                <a:ea typeface="Arial"/>
                <a:cs typeface="Arial"/>
              </a:defRPr>
            </a:lvl1pPr>
            <a:lvl2pPr algn="r">
              <a:defRPr sz="1200">
                <a:solidFill>
                  <a:srgbClr val="526875"/>
                </a:solidFill>
                <a:latin typeface="Arial"/>
                <a:ea typeface="Arial"/>
                <a:cs typeface="Arial"/>
              </a:defRPr>
            </a:lvl2pPr>
            <a:lvl3pPr algn="r">
              <a:defRPr sz="1200">
                <a:solidFill>
                  <a:srgbClr val="526875"/>
                </a:solidFill>
                <a:latin typeface="Arial"/>
                <a:ea typeface="Arial"/>
                <a:cs typeface="Arial"/>
              </a:defRPr>
            </a:lvl3pPr>
            <a:lvl4pPr algn="r">
              <a:defRPr sz="1200">
                <a:solidFill>
                  <a:srgbClr val="526875"/>
                </a:solidFill>
                <a:latin typeface="Arial"/>
                <a:ea typeface="Arial"/>
                <a:cs typeface="Arial"/>
              </a:defRPr>
            </a:lvl4pPr>
            <a:lvl5pPr algn="r">
              <a:defRPr sz="1200">
                <a:solidFill>
                  <a:srgbClr val="526875"/>
                </a:solidFill>
                <a:latin typeface="Arial"/>
                <a:ea typeface="Arial"/>
                <a:cs typeface="Arial"/>
              </a:defRPr>
            </a:lvl5pPr>
            <a:lvl6pPr algn="r">
              <a:defRPr sz="1200">
                <a:solidFill>
                  <a:srgbClr val="526875"/>
                </a:solidFill>
                <a:latin typeface="Arial"/>
                <a:ea typeface="Arial"/>
                <a:cs typeface="Arial"/>
              </a:defRPr>
            </a:lvl6pPr>
            <a:lvl7pPr algn="r">
              <a:defRPr sz="1200">
                <a:solidFill>
                  <a:srgbClr val="526875"/>
                </a:solidFill>
                <a:latin typeface="Arial"/>
                <a:ea typeface="Arial"/>
                <a:cs typeface="Arial"/>
              </a:defRPr>
            </a:lvl7pPr>
            <a:lvl8pPr algn="r">
              <a:defRPr sz="1200">
                <a:solidFill>
                  <a:srgbClr val="526875"/>
                </a:solidFill>
                <a:latin typeface="Arial"/>
                <a:ea typeface="Arial"/>
                <a:cs typeface="Arial"/>
              </a:defRPr>
            </a:lvl8pPr>
            <a:lvl9pPr algn="r">
              <a:defRPr sz="1200">
                <a:solidFill>
                  <a:srgbClr val="526875"/>
                </a:solidFill>
                <a:latin typeface="Arial"/>
                <a:ea typeface="Arial"/>
                <a:cs typeface="Arial"/>
              </a:defRPr>
            </a:lvl9pPr>
          </a:lstStyle>
          <a:p xmlns:a="http://schemas.openxmlformats.org/drawingml/2006/main">
            <a:pPr algn="r">
              <a:defRPr sz="1200">
                <a:solidFill>
                  <a:srgbClr val="526875"/>
                </a:solidFill>
                <a:latin typeface="Arial"/>
                <a:ea typeface="Arial"/>
                <a:cs typeface="Arial"/>
              </a:defRPr>
            </a:pPr>
            <a:r>
              <a:rPr sz="1200">
                <a:solidFill>
                  <a:srgbClr val="526875"/>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2F536D09-97E5-4DBA-ABF4-FF63FA750770}"/>
              </a:ext>
            </a:extLst>
          </p:cNvPr>
          <p:cNvPicPr>
            <a:picLocks xmlns:a="http://schemas.openxmlformats.org/drawingml/2006/main" noChangeAspect="1"/>
          </p:cNvPicPr>
          <p:nvPr/>
        </p:nvPicPr>
        <p:blipFill>
          <a:blip xmlns:r="http://schemas.openxmlformats.org/officeDocument/2006/relationships" xmlns:a="http://schemas.openxmlformats.org/drawingml/2006/main" r:embed="R7cead05a5d2d452c"/>
          <a:stretch xmlns:a="http://schemas.openxmlformats.org/drawingml/2006/main"/>
        </p:blipFill>
        <p:spPr>
          <a:xfrm xmlns:a="http://schemas.openxmlformats.org/drawingml/2006/main">
            <a:off x="685800" y="1470819"/>
            <a:ext cx="6572250" cy="4564063"/>
          </a:xfrm>
          <a:prstGeom xmlns:a="http://schemas.openxmlformats.org/drawingml/2006/main" prst="rect">
            <a:avLst/>
          </a:prstGeom>
        </p:spPr>
      </p:pic>
      <p:sp>
        <p:nvSpPr>
          <p:cNvPr id="4" name="setup-heading">
            <a:extLst xmlns:a="http://schemas.openxmlformats.org/drawingml/2006/main">
              <a:ext uri="{FF2B5EF4-FFF2-40B4-BE49-F238E27FC236}">
                <a16:creationId xmlns:a16="http://schemas.microsoft.com/office/drawing/2014/main" id="{213A4CBE-19BC-45C4-94B9-469F0FDB81D8}"/>
              </a:ext>
            </a:extLst>
          </p:cNvPr>
          <p:cNvSpPr>
            <a:spLocks xmlns:a="http://schemas.openxmlformats.org/drawingml/2006/main" noGrp="1"/>
          </p:cNvSpPr>
          <p:nvPr/>
        </p:nvSpPr>
        <p:spPr>
          <a:xfrm xmlns:a="http://schemas.openxmlformats.org/drawingml/2006/main">
            <a:off x="7753350" y="1495425"/>
            <a:ext cx="3752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1838A"/>
                </a:solidFill>
                <a:latin typeface="Arial"/>
                <a:ea typeface="Arial"/>
                <a:cs typeface="Arial"/>
              </a:defRPr>
            </a:defPPr>
            <a:lvl1pPr>
              <a:defRPr sz="2325" b="1">
                <a:solidFill>
                  <a:srgbClr val="11838A"/>
                </a:solidFill>
                <a:latin typeface="Arial"/>
                <a:ea typeface="Arial"/>
                <a:cs typeface="Arial"/>
              </a:defRPr>
            </a:lvl1pPr>
            <a:lvl2pPr>
              <a:defRPr sz="2325" b="1">
                <a:solidFill>
                  <a:srgbClr val="11838A"/>
                </a:solidFill>
                <a:latin typeface="Arial"/>
                <a:ea typeface="Arial"/>
                <a:cs typeface="Arial"/>
              </a:defRPr>
            </a:lvl2pPr>
            <a:lvl3pPr>
              <a:defRPr sz="2325" b="1">
                <a:solidFill>
                  <a:srgbClr val="11838A"/>
                </a:solidFill>
                <a:latin typeface="Arial"/>
                <a:ea typeface="Arial"/>
                <a:cs typeface="Arial"/>
              </a:defRPr>
            </a:lvl3pPr>
            <a:lvl4pPr>
              <a:defRPr sz="2325" b="1">
                <a:solidFill>
                  <a:srgbClr val="11838A"/>
                </a:solidFill>
                <a:latin typeface="Arial"/>
                <a:ea typeface="Arial"/>
                <a:cs typeface="Arial"/>
              </a:defRPr>
            </a:lvl4pPr>
            <a:lvl5pPr>
              <a:defRPr sz="2325" b="1">
                <a:solidFill>
                  <a:srgbClr val="11838A"/>
                </a:solidFill>
                <a:latin typeface="Arial"/>
                <a:ea typeface="Arial"/>
                <a:cs typeface="Arial"/>
              </a:defRPr>
            </a:lvl5pPr>
            <a:lvl6pPr>
              <a:defRPr sz="2325" b="1">
                <a:solidFill>
                  <a:srgbClr val="11838A"/>
                </a:solidFill>
                <a:latin typeface="Arial"/>
                <a:ea typeface="Arial"/>
                <a:cs typeface="Arial"/>
              </a:defRPr>
            </a:lvl6pPr>
            <a:lvl7pPr>
              <a:defRPr sz="2325" b="1">
                <a:solidFill>
                  <a:srgbClr val="11838A"/>
                </a:solidFill>
                <a:latin typeface="Arial"/>
                <a:ea typeface="Arial"/>
                <a:cs typeface="Arial"/>
              </a:defRPr>
            </a:lvl7pPr>
            <a:lvl8pPr>
              <a:defRPr sz="2325" b="1">
                <a:solidFill>
                  <a:srgbClr val="11838A"/>
                </a:solidFill>
                <a:latin typeface="Arial"/>
                <a:ea typeface="Arial"/>
                <a:cs typeface="Arial"/>
              </a:defRPr>
            </a:lvl8pPr>
            <a:lvl9pPr>
              <a:defRPr sz="2325" b="1">
                <a:solidFill>
                  <a:srgbClr val="11838A"/>
                </a:solidFill>
                <a:latin typeface="Arial"/>
                <a:ea typeface="Arial"/>
                <a:cs typeface="Arial"/>
              </a:defRPr>
            </a:lvl9pPr>
          </a:lstStyle>
          <a:p xmlns:a="http://schemas.openxmlformats.org/drawingml/2006/main">
            <a:pPr>
              <a:defRPr sz="2325" b="1">
                <a:solidFill>
                  <a:srgbClr val="11838A"/>
                </a:solidFill>
                <a:latin typeface="Arial"/>
                <a:ea typeface="Arial"/>
                <a:cs typeface="Arial"/>
              </a:defRPr>
            </a:pPr>
            <a:r>
              <a:rPr sz="2325" b="1">
                <a:solidFill>
                  <a:srgbClr val="11838A"/>
                </a:solidFill>
                <a:latin typeface="Arial"/>
                <a:ea typeface="Arial"/>
                <a:cs typeface="Arial"/>
              </a:rPr>
              <a:t>Local workflow</a:t>
            </a:r>
          </a:p>
        </p:txBody>
      </p:sp>
      <p:sp>
        <p:nvSpPr>
          <p:cNvPr id="5" name="setup-details">
            <a:extLst xmlns:a="http://schemas.openxmlformats.org/drawingml/2006/main">
              <a:ext uri="{FF2B5EF4-FFF2-40B4-BE49-F238E27FC236}">
                <a16:creationId xmlns:a16="http://schemas.microsoft.com/office/drawing/2014/main" id="{07FDD8EF-1EC4-4A82-90FA-E54A6B5F52F2}"/>
              </a:ext>
            </a:extLst>
          </p:cNvPr>
          <p:cNvSpPr>
            <a:spLocks xmlns:a="http://schemas.openxmlformats.org/drawingml/2006/main" noGrp="1"/>
          </p:cNvSpPr>
          <p:nvPr/>
        </p:nvSpPr>
        <p:spPr>
          <a:xfrm xmlns:a="http://schemas.openxmlformats.org/drawingml/2006/main">
            <a:off x="7753350" y="2124075"/>
            <a:ext cx="37528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83340"/>
                </a:solidFill>
                <a:latin typeface="Arial"/>
                <a:ea typeface="Arial"/>
                <a:cs typeface="Arial"/>
              </a:defRPr>
            </a:defPPr>
            <a:lvl1pPr>
              <a:defRPr sz="1875">
                <a:solidFill>
                  <a:srgbClr val="183340"/>
                </a:solidFill>
                <a:latin typeface="Arial"/>
                <a:ea typeface="Arial"/>
                <a:cs typeface="Arial"/>
              </a:defRPr>
            </a:lvl1pPr>
            <a:lvl2pPr>
              <a:defRPr sz="1875">
                <a:solidFill>
                  <a:srgbClr val="183340"/>
                </a:solidFill>
                <a:latin typeface="Arial"/>
                <a:ea typeface="Arial"/>
                <a:cs typeface="Arial"/>
              </a:defRPr>
            </a:lvl2pPr>
            <a:lvl3pPr>
              <a:defRPr sz="1875">
                <a:solidFill>
                  <a:srgbClr val="183340"/>
                </a:solidFill>
                <a:latin typeface="Arial"/>
                <a:ea typeface="Arial"/>
                <a:cs typeface="Arial"/>
              </a:defRPr>
            </a:lvl3pPr>
            <a:lvl4pPr>
              <a:defRPr sz="1875">
                <a:solidFill>
                  <a:srgbClr val="183340"/>
                </a:solidFill>
                <a:latin typeface="Arial"/>
                <a:ea typeface="Arial"/>
                <a:cs typeface="Arial"/>
              </a:defRPr>
            </a:lvl4pPr>
            <a:lvl5pPr>
              <a:defRPr sz="1875">
                <a:solidFill>
                  <a:srgbClr val="183340"/>
                </a:solidFill>
                <a:latin typeface="Arial"/>
                <a:ea typeface="Arial"/>
                <a:cs typeface="Arial"/>
              </a:defRPr>
            </a:lvl5pPr>
            <a:lvl6pPr>
              <a:defRPr sz="1875">
                <a:solidFill>
                  <a:srgbClr val="183340"/>
                </a:solidFill>
                <a:latin typeface="Arial"/>
                <a:ea typeface="Arial"/>
                <a:cs typeface="Arial"/>
              </a:defRPr>
            </a:lvl6pPr>
            <a:lvl7pPr>
              <a:defRPr sz="1875">
                <a:solidFill>
                  <a:srgbClr val="183340"/>
                </a:solidFill>
                <a:latin typeface="Arial"/>
                <a:ea typeface="Arial"/>
                <a:cs typeface="Arial"/>
              </a:defRPr>
            </a:lvl7pPr>
            <a:lvl8pPr>
              <a:defRPr sz="1875">
                <a:solidFill>
                  <a:srgbClr val="183340"/>
                </a:solidFill>
                <a:latin typeface="Arial"/>
                <a:ea typeface="Arial"/>
                <a:cs typeface="Arial"/>
              </a:defRPr>
            </a:lvl8pPr>
            <a:lvl9pPr>
              <a:defRPr sz="1875">
                <a:solidFill>
                  <a:srgbClr val="183340"/>
                </a:solidFill>
                <a:latin typeface="Arial"/>
                <a:ea typeface="Arial"/>
                <a:cs typeface="Arial"/>
              </a:defRPr>
            </a:lvl9pPr>
          </a:lstStyle>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Use Python 3.12.</a:t>
            </a:r>
          </a:p>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Create .venv and install</a:t>
            </a:r>
          </a:p>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requirements-lock.txt.</a:t>
            </a:r>
          </a:p>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Run the tests and notebook.</a:t>
            </a:r>
          </a:p>
          <a:p xmlns:a="http://schemas.openxmlformats.org/drawingml/2006/main">
            <a:pPr>
              <a:defRPr sz="1875">
                <a:solidFill>
                  <a:srgbClr val="183340"/>
                </a:solidFill>
                <a:latin typeface="Arial"/>
                <a:ea typeface="Arial"/>
                <a:cs typeface="Arial"/>
              </a:defRPr>
            </a:pPr>
            <a:r>
              <a:rPr sz="1875">
                <a:solidFill>
                  <a:srgbClr val="183340"/>
                </a:solidFill>
                <a:latin typeface="Arial"/>
                <a:ea typeface="Arial"/>
                <a:cs typeface="Arial"/>
              </a:rPr>
              <a:t>Export the static report.</a:t>
            </a:r>
          </a:p>
        </p:txBody>
      </p:sp>
      <p:sp>
        <p:nvSpPr>
          <p:cNvPr id="6" name="repository-heading">
            <a:extLst xmlns:a="http://schemas.openxmlformats.org/drawingml/2006/main">
              <a:ext uri="{FF2B5EF4-FFF2-40B4-BE49-F238E27FC236}">
                <a16:creationId xmlns:a16="http://schemas.microsoft.com/office/drawing/2014/main" id="{D53830AE-A2E0-4902-9A12-8AB6CB4D5164}"/>
              </a:ext>
            </a:extLst>
          </p:cNvPr>
          <p:cNvSpPr>
            <a:spLocks xmlns:a="http://schemas.openxmlformats.org/drawingml/2006/main" noGrp="1"/>
          </p:cNvSpPr>
          <p:nvPr/>
        </p:nvSpPr>
        <p:spPr>
          <a:xfrm xmlns:a="http://schemas.openxmlformats.org/drawingml/2006/main">
            <a:off x="7753350" y="4552950"/>
            <a:ext cx="3752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3340"/>
                </a:solidFill>
                <a:latin typeface="Arial"/>
                <a:ea typeface="Arial"/>
                <a:cs typeface="Arial"/>
              </a:defRPr>
            </a:defPPr>
            <a:lvl1pPr>
              <a:defRPr sz="1875" b="1">
                <a:solidFill>
                  <a:srgbClr val="183340"/>
                </a:solidFill>
                <a:latin typeface="Arial"/>
                <a:ea typeface="Arial"/>
                <a:cs typeface="Arial"/>
              </a:defRPr>
            </a:lvl1pPr>
            <a:lvl2pPr>
              <a:defRPr sz="1875" b="1">
                <a:solidFill>
                  <a:srgbClr val="183340"/>
                </a:solidFill>
                <a:latin typeface="Arial"/>
                <a:ea typeface="Arial"/>
                <a:cs typeface="Arial"/>
              </a:defRPr>
            </a:lvl2pPr>
            <a:lvl3pPr>
              <a:defRPr sz="1875" b="1">
                <a:solidFill>
                  <a:srgbClr val="183340"/>
                </a:solidFill>
                <a:latin typeface="Arial"/>
                <a:ea typeface="Arial"/>
                <a:cs typeface="Arial"/>
              </a:defRPr>
            </a:lvl3pPr>
            <a:lvl4pPr>
              <a:defRPr sz="1875" b="1">
                <a:solidFill>
                  <a:srgbClr val="183340"/>
                </a:solidFill>
                <a:latin typeface="Arial"/>
                <a:ea typeface="Arial"/>
                <a:cs typeface="Arial"/>
              </a:defRPr>
            </a:lvl4pPr>
            <a:lvl5pPr>
              <a:defRPr sz="1875" b="1">
                <a:solidFill>
                  <a:srgbClr val="183340"/>
                </a:solidFill>
                <a:latin typeface="Arial"/>
                <a:ea typeface="Arial"/>
                <a:cs typeface="Arial"/>
              </a:defRPr>
            </a:lvl5pPr>
            <a:lvl6pPr>
              <a:defRPr sz="1875" b="1">
                <a:solidFill>
                  <a:srgbClr val="183340"/>
                </a:solidFill>
                <a:latin typeface="Arial"/>
                <a:ea typeface="Arial"/>
                <a:cs typeface="Arial"/>
              </a:defRPr>
            </a:lvl6pPr>
            <a:lvl7pPr>
              <a:defRPr sz="1875" b="1">
                <a:solidFill>
                  <a:srgbClr val="183340"/>
                </a:solidFill>
                <a:latin typeface="Arial"/>
                <a:ea typeface="Arial"/>
                <a:cs typeface="Arial"/>
              </a:defRPr>
            </a:lvl7pPr>
            <a:lvl8pPr>
              <a:defRPr sz="1875" b="1">
                <a:solidFill>
                  <a:srgbClr val="183340"/>
                </a:solidFill>
                <a:latin typeface="Arial"/>
                <a:ea typeface="Arial"/>
                <a:cs typeface="Arial"/>
              </a:defRPr>
            </a:lvl8pPr>
            <a:lvl9pPr>
              <a:defRPr sz="1875" b="1">
                <a:solidFill>
                  <a:srgbClr val="183340"/>
                </a:solidFill>
                <a:latin typeface="Arial"/>
                <a:ea typeface="Arial"/>
                <a:cs typeface="Arial"/>
              </a:defRPr>
            </a:lvl9pPr>
          </a:lstStyle>
          <a:p xmlns:a="http://schemas.openxmlformats.org/drawingml/2006/main">
            <a:pPr>
              <a:defRPr sz="1875" b="1">
                <a:solidFill>
                  <a:srgbClr val="183340"/>
                </a:solidFill>
                <a:latin typeface="Arial"/>
                <a:ea typeface="Arial"/>
                <a:cs typeface="Arial"/>
              </a:defRPr>
            </a:pPr>
            <a:r>
              <a:rPr sz="1875" b="1">
                <a:solidFill>
                  <a:srgbClr val="183340"/>
                </a:solidFill>
                <a:latin typeface="Arial"/>
                <a:ea typeface="Arial"/>
                <a:cs typeface="Arial"/>
              </a:rPr>
              <a:t>GitHub repository</a:t>
            </a:r>
          </a:p>
        </p:txBody>
      </p:sp>
      <p:sp>
        <p:nvSpPr>
          <p:cNvPr id="7" name="repository-link">
            <a:extLst xmlns:a="http://schemas.openxmlformats.org/drawingml/2006/main">
              <a:ext uri="{FF2B5EF4-FFF2-40B4-BE49-F238E27FC236}">
                <a16:creationId xmlns:a16="http://schemas.microsoft.com/office/drawing/2014/main" id="{5A0073CF-B90F-4C67-831A-229822C50D64}"/>
              </a:ext>
            </a:extLst>
          </p:cNvPr>
          <p:cNvSpPr>
            <a:spLocks xmlns:a="http://schemas.openxmlformats.org/drawingml/2006/main" noGrp="1"/>
          </p:cNvSpPr>
          <p:nvPr/>
        </p:nvSpPr>
        <p:spPr>
          <a:xfrm xmlns:a="http://schemas.openxmlformats.org/drawingml/2006/main">
            <a:off x="7753350" y="5019675"/>
            <a:ext cx="3752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11838A"/>
                </a:solidFill>
                <a:latin typeface="Arial"/>
                <a:ea typeface="Arial"/>
                <a:cs typeface="Arial"/>
              </a:defRPr>
            </a:defPPr>
            <a:lvl1pPr>
              <a:defRPr sz="1575">
                <a:solidFill>
                  <a:srgbClr val="11838A"/>
                </a:solidFill>
                <a:latin typeface="Arial"/>
                <a:ea typeface="Arial"/>
                <a:cs typeface="Arial"/>
              </a:defRPr>
            </a:lvl1pPr>
            <a:lvl2pPr>
              <a:defRPr sz="1575">
                <a:solidFill>
                  <a:srgbClr val="11838A"/>
                </a:solidFill>
                <a:latin typeface="Arial"/>
                <a:ea typeface="Arial"/>
                <a:cs typeface="Arial"/>
              </a:defRPr>
            </a:lvl2pPr>
            <a:lvl3pPr>
              <a:defRPr sz="1575">
                <a:solidFill>
                  <a:srgbClr val="11838A"/>
                </a:solidFill>
                <a:latin typeface="Arial"/>
                <a:ea typeface="Arial"/>
                <a:cs typeface="Arial"/>
              </a:defRPr>
            </a:lvl3pPr>
            <a:lvl4pPr>
              <a:defRPr sz="1575">
                <a:solidFill>
                  <a:srgbClr val="11838A"/>
                </a:solidFill>
                <a:latin typeface="Arial"/>
                <a:ea typeface="Arial"/>
                <a:cs typeface="Arial"/>
              </a:defRPr>
            </a:lvl4pPr>
            <a:lvl5pPr>
              <a:defRPr sz="1575">
                <a:solidFill>
                  <a:srgbClr val="11838A"/>
                </a:solidFill>
                <a:latin typeface="Arial"/>
                <a:ea typeface="Arial"/>
                <a:cs typeface="Arial"/>
              </a:defRPr>
            </a:lvl5pPr>
            <a:lvl6pPr>
              <a:defRPr sz="1575">
                <a:solidFill>
                  <a:srgbClr val="11838A"/>
                </a:solidFill>
                <a:latin typeface="Arial"/>
                <a:ea typeface="Arial"/>
                <a:cs typeface="Arial"/>
              </a:defRPr>
            </a:lvl6pPr>
            <a:lvl7pPr>
              <a:defRPr sz="1575">
                <a:solidFill>
                  <a:srgbClr val="11838A"/>
                </a:solidFill>
                <a:latin typeface="Arial"/>
                <a:ea typeface="Arial"/>
                <a:cs typeface="Arial"/>
              </a:defRPr>
            </a:lvl7pPr>
            <a:lvl8pPr>
              <a:defRPr sz="1575">
                <a:solidFill>
                  <a:srgbClr val="11838A"/>
                </a:solidFill>
                <a:latin typeface="Arial"/>
                <a:ea typeface="Arial"/>
                <a:cs typeface="Arial"/>
              </a:defRPr>
            </a:lvl8pPr>
            <a:lvl9pPr>
              <a:defRPr sz="1575">
                <a:solidFill>
                  <a:srgbClr val="11838A"/>
                </a:solidFill>
                <a:latin typeface="Arial"/>
                <a:ea typeface="Arial"/>
                <a:cs typeface="Arial"/>
              </a:defRPr>
            </a:lvl9pPr>
          </a:lstStyle>
          <a:p xmlns:a="http://schemas.openxmlformats.org/drawingml/2006/main">
            <a:pPr>
              <a:defRPr sz="1575">
                <a:solidFill>
                  <a:srgbClr val="11838A"/>
                </a:solidFill>
                <a:latin typeface="Arial"/>
                <a:ea typeface="Arial"/>
                <a:cs typeface="Arial"/>
              </a:defRPr>
            </a:pPr>
            <a:r>
              <a:rPr sz="1575">
                <a:solidFill>
                  <a:srgbClr val="11838A"/>
                </a:solidFill>
                <a:latin typeface="Arial"/>
                <a:ea typeface="Arial"/>
                <a:cs typeface="Arial"/>
                <a:hlinkClick xmlns:r="http://schemas.openxmlformats.org/officeDocument/2006/relationships" r:id="Rfa0bad400b5c45b6"/>
              </a:rPr>
              <a:t>BikashCoder31/intraday-volume-lab</a:t>
            </a:r>
          </a:p>
        </p:txBody>
      </p:sp>
      <p:sp>
        <p:nvSpPr>
          <p:cNvPr id="8" name="live-link">
            <a:extLst xmlns:a="http://schemas.openxmlformats.org/drawingml/2006/main">
              <a:ext uri="{FF2B5EF4-FFF2-40B4-BE49-F238E27FC236}">
                <a16:creationId xmlns:a16="http://schemas.microsoft.com/office/drawing/2014/main" id="{FAC1DC4E-2DE1-4133-A8EF-3F4FC8629021}"/>
              </a:ext>
            </a:extLst>
          </p:cNvPr>
          <p:cNvSpPr>
            <a:spLocks xmlns:a="http://schemas.openxmlformats.org/drawingml/2006/main" noGrp="1"/>
          </p:cNvSpPr>
          <p:nvPr/>
        </p:nvSpPr>
        <p:spPr>
          <a:xfrm xmlns:a="http://schemas.openxmlformats.org/drawingml/2006/main">
            <a:off x="7753350" y="5534025"/>
            <a:ext cx="3752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1838A"/>
                </a:solidFill>
                <a:latin typeface="Arial"/>
                <a:ea typeface="Arial"/>
                <a:cs typeface="Arial"/>
              </a:defRPr>
            </a:defPPr>
            <a:lvl1pPr>
              <a:defRPr sz="1725">
                <a:solidFill>
                  <a:srgbClr val="11838A"/>
                </a:solidFill>
                <a:latin typeface="Arial"/>
                <a:ea typeface="Arial"/>
                <a:cs typeface="Arial"/>
              </a:defRPr>
            </a:lvl1pPr>
            <a:lvl2pPr>
              <a:defRPr sz="1725">
                <a:solidFill>
                  <a:srgbClr val="11838A"/>
                </a:solidFill>
                <a:latin typeface="Arial"/>
                <a:ea typeface="Arial"/>
                <a:cs typeface="Arial"/>
              </a:defRPr>
            </a:lvl2pPr>
            <a:lvl3pPr>
              <a:defRPr sz="1725">
                <a:solidFill>
                  <a:srgbClr val="11838A"/>
                </a:solidFill>
                <a:latin typeface="Arial"/>
                <a:ea typeface="Arial"/>
                <a:cs typeface="Arial"/>
              </a:defRPr>
            </a:lvl3pPr>
            <a:lvl4pPr>
              <a:defRPr sz="1725">
                <a:solidFill>
                  <a:srgbClr val="11838A"/>
                </a:solidFill>
                <a:latin typeface="Arial"/>
                <a:ea typeface="Arial"/>
                <a:cs typeface="Arial"/>
              </a:defRPr>
            </a:lvl4pPr>
            <a:lvl5pPr>
              <a:defRPr sz="1725">
                <a:solidFill>
                  <a:srgbClr val="11838A"/>
                </a:solidFill>
                <a:latin typeface="Arial"/>
                <a:ea typeface="Arial"/>
                <a:cs typeface="Arial"/>
              </a:defRPr>
            </a:lvl5pPr>
            <a:lvl6pPr>
              <a:defRPr sz="1725">
                <a:solidFill>
                  <a:srgbClr val="11838A"/>
                </a:solidFill>
                <a:latin typeface="Arial"/>
                <a:ea typeface="Arial"/>
                <a:cs typeface="Arial"/>
              </a:defRPr>
            </a:lvl6pPr>
            <a:lvl7pPr>
              <a:defRPr sz="1725">
                <a:solidFill>
                  <a:srgbClr val="11838A"/>
                </a:solidFill>
                <a:latin typeface="Arial"/>
                <a:ea typeface="Arial"/>
                <a:cs typeface="Arial"/>
              </a:defRPr>
            </a:lvl7pPr>
            <a:lvl8pPr>
              <a:defRPr sz="1725">
                <a:solidFill>
                  <a:srgbClr val="11838A"/>
                </a:solidFill>
                <a:latin typeface="Arial"/>
                <a:ea typeface="Arial"/>
                <a:cs typeface="Arial"/>
              </a:defRPr>
            </a:lvl8pPr>
            <a:lvl9pPr>
              <a:defRPr sz="1725">
                <a:solidFill>
                  <a:srgbClr val="11838A"/>
                </a:solidFill>
                <a:latin typeface="Arial"/>
                <a:ea typeface="Arial"/>
                <a:cs typeface="Arial"/>
              </a:defRPr>
            </a:lvl9pPr>
          </a:lstStyle>
          <a:p xmlns:a="http://schemas.openxmlformats.org/drawingml/2006/main">
            <a:pPr>
              <a:defRPr sz="1725">
                <a:solidFill>
                  <a:srgbClr val="11838A"/>
                </a:solidFill>
                <a:latin typeface="Arial"/>
                <a:ea typeface="Arial"/>
                <a:cs typeface="Arial"/>
              </a:defRPr>
            </a:pPr>
            <a:r>
              <a:rPr sz="1725">
                <a:solidFill>
                  <a:srgbClr val="11838A"/>
                </a:solidFill>
                <a:latin typeface="Arial"/>
                <a:ea typeface="Arial"/>
                <a:cs typeface="Arial"/>
                <a:hlinkClick xmlns:r="http://schemas.openxmlformats.org/officeDocument/2006/relationships" r:id="Rc93f0cfe6e5b489c"/>
              </a:rPr>
              <a:t>intraday-volume-lab.vercel.app</a:t>
            </a:r>
          </a:p>
        </p:txBody>
      </p:sp>
      <p:sp>
        <p:nvSpPr>
          <p:cNvPr id="9" name="setup-reference">
            <a:extLst xmlns:a="http://schemas.openxmlformats.org/drawingml/2006/main">
              <a:ext uri="{FF2B5EF4-FFF2-40B4-BE49-F238E27FC236}">
                <a16:creationId xmlns:a16="http://schemas.microsoft.com/office/drawing/2014/main" id="{E0962406-55AD-46BA-BD95-12B2CCD5B8A4}"/>
              </a:ext>
            </a:extLst>
          </p:cNvPr>
          <p:cNvSpPr>
            <a:spLocks xmlns:a="http://schemas.openxmlformats.org/drawingml/2006/main" noGrp="1"/>
          </p:cNvSpPr>
          <p:nvPr/>
        </p:nvSpPr>
        <p:spPr>
          <a:xfrm xmlns:a="http://schemas.openxmlformats.org/drawingml/2006/main">
            <a:off x="685800" y="60674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526875"/>
                </a:solidFill>
                <a:latin typeface="Arial"/>
                <a:ea typeface="Arial"/>
                <a:cs typeface="Arial"/>
              </a:defRPr>
            </a:defPPr>
            <a:lvl1pPr>
              <a:defRPr sz="1575">
                <a:solidFill>
                  <a:srgbClr val="526875"/>
                </a:solidFill>
                <a:latin typeface="Arial"/>
                <a:ea typeface="Arial"/>
                <a:cs typeface="Arial"/>
              </a:defRPr>
            </a:lvl1pPr>
            <a:lvl2pPr>
              <a:defRPr sz="1575">
                <a:solidFill>
                  <a:srgbClr val="526875"/>
                </a:solidFill>
                <a:latin typeface="Arial"/>
                <a:ea typeface="Arial"/>
                <a:cs typeface="Arial"/>
              </a:defRPr>
            </a:lvl2pPr>
            <a:lvl3pPr>
              <a:defRPr sz="1575">
                <a:solidFill>
                  <a:srgbClr val="526875"/>
                </a:solidFill>
                <a:latin typeface="Arial"/>
                <a:ea typeface="Arial"/>
                <a:cs typeface="Arial"/>
              </a:defRPr>
            </a:lvl3pPr>
            <a:lvl4pPr>
              <a:defRPr sz="1575">
                <a:solidFill>
                  <a:srgbClr val="526875"/>
                </a:solidFill>
                <a:latin typeface="Arial"/>
                <a:ea typeface="Arial"/>
                <a:cs typeface="Arial"/>
              </a:defRPr>
            </a:lvl4pPr>
            <a:lvl5pPr>
              <a:defRPr sz="1575">
                <a:solidFill>
                  <a:srgbClr val="526875"/>
                </a:solidFill>
                <a:latin typeface="Arial"/>
                <a:ea typeface="Arial"/>
                <a:cs typeface="Arial"/>
              </a:defRPr>
            </a:lvl5pPr>
            <a:lvl6pPr>
              <a:defRPr sz="1575">
                <a:solidFill>
                  <a:srgbClr val="526875"/>
                </a:solidFill>
                <a:latin typeface="Arial"/>
                <a:ea typeface="Arial"/>
                <a:cs typeface="Arial"/>
              </a:defRPr>
            </a:lvl6pPr>
            <a:lvl7pPr>
              <a:defRPr sz="1575">
                <a:solidFill>
                  <a:srgbClr val="526875"/>
                </a:solidFill>
                <a:latin typeface="Arial"/>
                <a:ea typeface="Arial"/>
                <a:cs typeface="Arial"/>
              </a:defRPr>
            </a:lvl7pPr>
            <a:lvl8pPr>
              <a:defRPr sz="1575">
                <a:solidFill>
                  <a:srgbClr val="526875"/>
                </a:solidFill>
                <a:latin typeface="Arial"/>
                <a:ea typeface="Arial"/>
                <a:cs typeface="Arial"/>
              </a:defRPr>
            </a:lvl8pPr>
            <a:lvl9pPr>
              <a:defRPr sz="1575">
                <a:solidFill>
                  <a:srgbClr val="526875"/>
                </a:solidFill>
                <a:latin typeface="Arial"/>
                <a:ea typeface="Arial"/>
                <a:cs typeface="Arial"/>
              </a:defRPr>
            </a:lvl9pPr>
          </a:lstStyle>
          <a:p xmlns:a="http://schemas.openxmlformats.org/drawingml/2006/main">
            <a:pPr>
              <a:defRPr sz="1575">
                <a:solidFill>
                  <a:srgbClr val="526875"/>
                </a:solidFill>
                <a:latin typeface="Arial"/>
                <a:ea typeface="Arial"/>
                <a:cs typeface="Arial"/>
              </a:defRPr>
            </a:pPr>
            <a:r>
              <a:rPr sz="1575">
                <a:solidFill>
                  <a:srgbClr val="526875"/>
                </a:solidFill>
                <a:latin typeface="Arial"/>
                <a:ea typeface="Arial"/>
                <a:cs typeface="Arial"/>
              </a:rPr>
              <a:t>Complete commands and data policy are in the README.</a:t>
            </a:r>
          </a:p>
        </p:txBody>
      </p:sp>
    </p:spTree>
    <p:extLst>
      <p:ext uri="{BB962C8B-B14F-4D97-AF65-F5344CB8AC3E}">
        <p14:creationId xmlns:p14="http://schemas.microsoft.com/office/powerpoint/2010/main" val="1790078821"/>
      </p:ext>
    </p:extLst>
  </p:cSld>
</p:sld>
</file>

<file path=ppt/theme/theme1.xml><?xml version="1.0" encoding="utf-8"?>
<a:theme xmlns:a="http://schemas.openxmlformats.org/drawingml/2006/main" name="Intraday Volume Lab">
  <a:themeElements>
    <a:clrScheme name="Intraday Volume Lab">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Intraday Volume La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Intraday Volume Lab</ap:Application>
  <ap:PresentationFormat>Widescreen</ap:PresentationFormat>
  <ap:Slides>8</ap:Slides>
  <ap:Notes>8</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Bikash Kushwaha</dc:creator>
  <lastModifiedBy>Bikash Kushwaha</lastModifiedBy>
  <dc:title>Intraday Volume Lab</dc:title>
  <dcterms:created xsi:type="dcterms:W3CDTF">2026-10-20T17:03:45.8080000Z</dcterms:created>
  <dcterms:modified xsi:type="dcterms:W3CDTF">2026-10-20T17:03:45.8080000Z</dcterms:modified>
</coreProperties>
</file>